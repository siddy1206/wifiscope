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48" d="100"/>
          <a:sy n="48" d="100"/>
        </p:scale>
        <p:origin x="53" y="111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6219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Wi-FiScope presentation overview: Technical introduction to indoor campus Wi-Fi signal mapping using Linear Algebra. The system transforms discrete, multi-period survey readings into continuous spatial intelligence without complex black-box machine learning.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research questions defined in source: identifying similar locations, detecting persistent weak readings, and estimating signal at unmeasured coordinates. Emphasizes mathematical transparency over complex black-box heuristics.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 locations across 3 time periods generate the 20x3 matrix. Location coordinates in metres provide the spatial foundation. L01 exhibits strongest signal around -46.2 to -48.8 dBm, while L20 exhibits severe attenuation down to -74.2 dBm.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Details the vector extraction and two-stage normalisation: mean-centring (c = x - mean(x)) and L2 scaling (x_hat = c / ||c||_2). This isolates relative temporal fluctuations from static path loss.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Explains cosine similarity (cos(theta) = u . v / (||u|| ||v||)) and norm distance. Highlights the development case of L13 and L18 showing cos(theta) approx 1.000 and norm distance approx 0.004.</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Explains the first-order planar model RSSI approx beta0 + beta1*x + beta2*y. Solves via ordinary least squares to estimate RSSI across unmeasured points without needing an expensive electromagnetic simulation.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Held-out validation across L01, L07, L14, L20 yielded an average MAE of 2.45 dBm. L07 achieved remarkably low error (0.37 dBm) as an interior node, while L14 at the weak boundary experienced slightly higher variance (4.27 dBm).</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Dual-rule classification requires: (1) Average RSSI &lt;= -67 dBm, and (2) at least half of readings &lt;= -67 dBm. Isolates true persistent weak zones: L14 (-67.4 dBm), L15 (-70.3 dBm), L19 (-70.2 dBm), and L20 (-73.0 dBm).</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Integrated spatial view: gradient surface reflects fitted plane; discrete circles reflect measured survey nodes; red outlines highlight persistent dead-zone candidates L14, L15, L19, and L20 in the top-right quadrant.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Eigen analysis reveals Component 1 captures 99.4% of total variance, reflecting a massive global diurnal trend across the survey area. Components 2 (0.5%) and 3 (0.1%) represent negligible local noise.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Summary and architectural conclusion: Wi-FiScope delivers an end-to-end mathematical pipeline from raw survey data to spatial coverage maps. Demonstrates how classical linear algebra provides explainable, high-accuracy spatial intelligence for campus network operations.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ounded Rectangle 1"/>
          <p:cNvSpPr/>
          <p:nvPr/>
        </p:nvSpPr>
        <p:spPr>
          <a:xfrm>
            <a:off x="731520" y="731520"/>
            <a:ext cx="10728655" cy="3291840"/>
          </a:xfrm>
          <a:prstGeom prst="roundRect">
            <a:avLst/>
          </a:prstGeom>
          <a:solidFill>
            <a:srgbClr val="16223F"/>
          </a:solidFill>
          <a:ln w="15240">
            <a:solidFill>
              <a:srgbClr val="3B52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1051560"/>
            <a:ext cx="9601200" cy="320040"/>
          </a:xfrm>
          <a:prstGeom prst="rect">
            <a:avLst/>
          </a:prstGeom>
          <a:noFill/>
        </p:spPr>
        <p:txBody>
          <a:bodyPr wrap="none">
            <a:spAutoFit/>
          </a:bodyPr>
          <a:lstStyle/>
          <a:p>
            <a:pPr>
              <a:defRPr sz="1100" b="1">
                <a:solidFill>
                  <a:srgbClr val="00D2FF"/>
                </a:solidFill>
                <a:latin typeface="Trebuchet MS"/>
              </a:defRPr>
            </a:pPr>
            <a:r>
              <a:t>UNIVERSITY TECHNICAL PRESENTATION  ·  MFAD MINI-PROJECT  ·  UE25MA242A</a:t>
            </a:r>
          </a:p>
        </p:txBody>
      </p:sp>
      <p:sp>
        <p:nvSpPr>
          <p:cNvPr id="4" name="TextBox 3"/>
          <p:cNvSpPr txBox="1"/>
          <p:nvPr/>
        </p:nvSpPr>
        <p:spPr>
          <a:xfrm>
            <a:off x="1097280" y="1371600"/>
            <a:ext cx="9601200" cy="1005840"/>
          </a:xfrm>
          <a:prstGeom prst="rect">
            <a:avLst/>
          </a:prstGeom>
          <a:noFill/>
        </p:spPr>
        <p:txBody>
          <a:bodyPr wrap="none">
            <a:spAutoFit/>
          </a:bodyPr>
          <a:lstStyle/>
          <a:p>
            <a:pPr>
              <a:defRPr sz="3600" b="1">
                <a:solidFill>
                  <a:srgbClr val="FFFFFF"/>
                </a:solidFill>
                <a:latin typeface="Trebuchet MS"/>
              </a:defRPr>
            </a:pPr>
            <a:r>
              <a:t>Wi-FiScope: Campus Wi-Fi Signal Intelligence</a:t>
            </a:r>
          </a:p>
        </p:txBody>
      </p:sp>
      <p:sp>
        <p:nvSpPr>
          <p:cNvPr id="5" name="TextBox 4"/>
          <p:cNvSpPr txBox="1"/>
          <p:nvPr/>
        </p:nvSpPr>
        <p:spPr>
          <a:xfrm>
            <a:off x="1097280" y="2423160"/>
            <a:ext cx="9601200" cy="822960"/>
          </a:xfrm>
          <a:prstGeom prst="rect">
            <a:avLst/>
          </a:prstGeom>
          <a:noFill/>
        </p:spPr>
        <p:txBody>
          <a:bodyPr wrap="square">
            <a:spAutoFit/>
          </a:bodyPr>
          <a:lstStyle/>
          <a:p>
            <a:pPr>
              <a:defRPr sz="1400">
                <a:solidFill>
                  <a:srgbClr val="EBF0F7"/>
                </a:solidFill>
                <a:latin typeface="Calibri"/>
              </a:defRPr>
            </a:pPr>
            <a:r>
              <a:t>Spatial signal mapping, chronic dead-zone detection, and unmeasured strength prediction powered by Linear Algebra, Vector Geometry, and Least-Squares Regression.</a:t>
            </a:r>
          </a:p>
          <a:p>
            <a:pPr>
              <a:spcBef>
                <a:spcPts val="800"/>
              </a:spcBef>
              <a:defRPr sz="1100">
                <a:solidFill>
                  <a:srgbClr val="FBBF24"/>
                </a:solidFill>
                <a:latin typeface="Liberation Mono"/>
              </a:defRPr>
            </a:pPr>
            <a:r>
              <a:t>Python Implementation  ·  Local Metre Coordinates  ·  Multi-Period RSSI (dBm)  ·  Explainable Mathematical Formulation</a:t>
            </a:r>
          </a:p>
        </p:txBody>
      </p:sp>
      <p:sp>
        <p:nvSpPr>
          <p:cNvPr id="6" name="Rounded Rectangle 5"/>
          <p:cNvSpPr/>
          <p:nvPr/>
        </p:nvSpPr>
        <p:spPr>
          <a:xfrm>
            <a:off x="731520" y="4251960"/>
            <a:ext cx="3364992" cy="1920240"/>
          </a:xfrm>
          <a:prstGeom prst="roundRect">
            <a:avLst/>
          </a:prstGeom>
          <a:solidFill>
            <a:srgbClr val="16223F"/>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14400" y="4416552"/>
            <a:ext cx="1645920" cy="50800"/>
          </a:xfrm>
          <a:prstGeom prst="round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4526280"/>
            <a:ext cx="2999232" cy="1554480"/>
          </a:xfrm>
          <a:prstGeom prst="rect">
            <a:avLst/>
          </a:prstGeom>
          <a:noFill/>
        </p:spPr>
        <p:txBody>
          <a:bodyPr wrap="square">
            <a:spAutoFit/>
          </a:bodyPr>
          <a:lstStyle/>
          <a:p>
            <a:pPr>
              <a:defRPr sz="950" b="1">
                <a:solidFill>
                  <a:srgbClr val="00D2FF"/>
                </a:solidFill>
                <a:latin typeface="Liberation Mono"/>
              </a:defRPr>
            </a:pPr>
            <a:r>
              <a:t>20 LOCATIONS × 3 PERIODS</a:t>
            </a:r>
          </a:p>
          <a:p>
            <a:pPr>
              <a:spcBef>
                <a:spcPts val="400"/>
              </a:spcBef>
              <a:defRPr sz="1400" b="1">
                <a:solidFill>
                  <a:srgbClr val="FFFFFF"/>
                </a:solidFill>
                <a:latin typeface="Trebuchet MS"/>
              </a:defRPr>
            </a:pPr>
            <a:r>
              <a:t>Structured Matrix Model</a:t>
            </a:r>
          </a:p>
          <a:p>
            <a:pPr>
              <a:spcBef>
                <a:spcPts val="400"/>
              </a:spcBef>
              <a:defRPr sz="1100">
                <a:solidFill>
                  <a:srgbClr val="94A3B8"/>
                </a:solidFill>
                <a:latin typeface="Calibri"/>
              </a:defRPr>
            </a:pPr>
            <a:r>
              <a:t>Transforms physical campus survey into a clean 20×3 location-by-time matrix A, preserving spatial coordinate traceability.</a:t>
            </a:r>
          </a:p>
        </p:txBody>
      </p:sp>
      <p:sp>
        <p:nvSpPr>
          <p:cNvPr id="9" name="Rounded Rectangle 8"/>
          <p:cNvSpPr/>
          <p:nvPr/>
        </p:nvSpPr>
        <p:spPr>
          <a:xfrm>
            <a:off x="4407408" y="4251960"/>
            <a:ext cx="3364992" cy="1920240"/>
          </a:xfrm>
          <a:prstGeom prst="roundRect">
            <a:avLst/>
          </a:prstGeom>
          <a:solidFill>
            <a:srgbClr val="16223F"/>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590288" y="4416552"/>
            <a:ext cx="1645920" cy="508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90288" y="4526280"/>
            <a:ext cx="2999232" cy="1554480"/>
          </a:xfrm>
          <a:prstGeom prst="rect">
            <a:avLst/>
          </a:prstGeom>
          <a:noFill/>
        </p:spPr>
        <p:txBody>
          <a:bodyPr wrap="square">
            <a:spAutoFit/>
          </a:bodyPr>
          <a:lstStyle/>
          <a:p>
            <a:pPr>
              <a:defRPr sz="950" b="1">
                <a:solidFill>
                  <a:srgbClr val="10B981"/>
                </a:solidFill>
                <a:latin typeface="Liberation Mono"/>
              </a:defRPr>
            </a:pPr>
            <a:r>
              <a:t>SPATIAL LEAST SQUARES</a:t>
            </a:r>
          </a:p>
          <a:p>
            <a:pPr>
              <a:spcBef>
                <a:spcPts val="400"/>
              </a:spcBef>
              <a:defRPr sz="1400" b="1">
                <a:solidFill>
                  <a:srgbClr val="FFFFFF"/>
                </a:solidFill>
                <a:latin typeface="Trebuchet MS"/>
              </a:defRPr>
            </a:pPr>
            <a:r>
              <a:t>Continuous Field Prediction</a:t>
            </a:r>
          </a:p>
          <a:p>
            <a:pPr>
              <a:spcBef>
                <a:spcPts val="400"/>
              </a:spcBef>
              <a:defRPr sz="1100">
                <a:solidFill>
                  <a:srgbClr val="94A3B8"/>
                </a:solidFill>
                <a:latin typeface="Calibri"/>
              </a:defRPr>
            </a:pPr>
            <a:r>
              <a:t>Fits a first-order planar estimator (RSSI ≈ β₀ + β₁x + β₂y) achieving a proven validation MAE of 2.45 dBm on unseen points.</a:t>
            </a:r>
          </a:p>
        </p:txBody>
      </p:sp>
      <p:sp>
        <p:nvSpPr>
          <p:cNvPr id="12" name="Rounded Rectangle 11"/>
          <p:cNvSpPr/>
          <p:nvPr/>
        </p:nvSpPr>
        <p:spPr>
          <a:xfrm>
            <a:off x="8083296" y="4251960"/>
            <a:ext cx="3364992" cy="1920240"/>
          </a:xfrm>
          <a:prstGeom prst="roundRect">
            <a:avLst/>
          </a:prstGeom>
          <a:solidFill>
            <a:srgbClr val="16223F"/>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266176" y="4416552"/>
            <a:ext cx="1645920" cy="50800"/>
          </a:xfrm>
          <a:prstGeom prst="round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66176" y="4526280"/>
            <a:ext cx="2999232" cy="1554480"/>
          </a:xfrm>
          <a:prstGeom prst="rect">
            <a:avLst/>
          </a:prstGeom>
          <a:noFill/>
        </p:spPr>
        <p:txBody>
          <a:bodyPr wrap="square">
            <a:spAutoFit/>
          </a:bodyPr>
          <a:lstStyle/>
          <a:p>
            <a:pPr>
              <a:defRPr sz="950" b="1">
                <a:solidFill>
                  <a:srgbClr val="F43F5E"/>
                </a:solidFill>
                <a:latin typeface="Liberation Mono"/>
              </a:defRPr>
            </a:pPr>
            <a:r>
              <a:t>DUAL-RULE CLASSIFICATION</a:t>
            </a:r>
          </a:p>
          <a:p>
            <a:pPr>
              <a:spcBef>
                <a:spcPts val="400"/>
              </a:spcBef>
              <a:defRPr sz="1400" b="1">
                <a:solidFill>
                  <a:srgbClr val="FFFFFF"/>
                </a:solidFill>
                <a:latin typeface="Trebuchet MS"/>
              </a:defRPr>
            </a:pPr>
            <a:r>
              <a:t>Robust Dead-Zone Filtering</a:t>
            </a:r>
          </a:p>
          <a:p>
            <a:pPr>
              <a:spcBef>
                <a:spcPts val="400"/>
              </a:spcBef>
              <a:defRPr sz="1100">
                <a:solidFill>
                  <a:srgbClr val="94A3B8"/>
                </a:solidFill>
                <a:latin typeface="Calibri"/>
              </a:defRPr>
            </a:pPr>
            <a:r>
              <a:t>Isolates chronic dead zones (≤ -67 dBm across ≥ 50% periods) to eliminate transient noise and optimize AP deployment.</a:t>
            </a:r>
          </a:p>
        </p:txBody>
      </p:sp>
      <p:sp>
        <p:nvSpPr>
          <p:cNvPr id="15" name="Rectangle 14"/>
          <p:cNvSpPr/>
          <p:nvPr/>
        </p:nvSpPr>
        <p:spPr>
          <a:xfrm>
            <a:off x="731520" y="6400800"/>
            <a:ext cx="10728655" cy="12700"/>
          </a:xfrm>
          <a:prstGeom prst="rect">
            <a:avLst/>
          </a:prstGeom>
          <a:solidFill>
            <a:srgbClr val="2A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6446520"/>
            <a:ext cx="6400800" cy="274320"/>
          </a:xfrm>
          <a:prstGeom prst="rect">
            <a:avLst/>
          </a:prstGeom>
          <a:noFill/>
        </p:spPr>
        <p:txBody>
          <a:bodyPr wrap="none" lIns="0" tIns="0" rIns="0" bIns="0">
            <a:spAutoFit/>
          </a:bodyPr>
          <a:lstStyle/>
          <a:p>
            <a:pPr>
              <a:defRPr sz="950">
                <a:solidFill>
                  <a:srgbClr val="94A3B8"/>
                </a:solidFill>
                <a:latin typeface="Calibri"/>
              </a:defRPr>
            </a:pPr>
            <a:r>
              <a:t>UE25MA242A · MFAD 2026  |  Wi-FiScope: Campus Wi-Fi Signal Intelligence via Linear Algebra</a:t>
            </a:r>
          </a:p>
        </p:txBody>
      </p:sp>
      <p:sp>
        <p:nvSpPr>
          <p:cNvPr id="17" name="TextBox 16"/>
          <p:cNvSpPr txBox="1"/>
          <p:nvPr/>
        </p:nvSpPr>
        <p:spPr>
          <a:xfrm>
            <a:off x="9631375" y="6446520"/>
            <a:ext cx="1828800" cy="274320"/>
          </a:xfrm>
          <a:prstGeom prst="rect">
            <a:avLst/>
          </a:prstGeom>
          <a:noFill/>
        </p:spPr>
        <p:txBody>
          <a:bodyPr wrap="none" lIns="0" tIns="0" rIns="0" bIns="0">
            <a:spAutoFit/>
          </a:bodyPr>
          <a:lstStyle/>
          <a:p>
            <a:pPr algn="r">
              <a:defRPr sz="950" b="1">
                <a:solidFill>
                  <a:srgbClr val="00D2FF"/>
                </a:solidFill>
                <a:latin typeface="Liberation Mono"/>
              </a:defRPr>
            </a:pPr>
            <a:r>
              <a:t>01 / 11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2926080" cy="256032"/>
          </a:xfrm>
          <a:prstGeom prst="roundRect">
            <a:avLst/>
          </a:prstGeom>
          <a:solidFill>
            <a:srgbClr val="1C2B50"/>
          </a:solidFill>
          <a:ln w="12700">
            <a:solidFill>
              <a:srgbClr val="3B5288"/>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00D2FF"/>
                </a:solidFill>
                <a:latin typeface="Trebuchet MS"/>
              </a:defRPr>
            </a:pPr>
            <a:r>
              <a:t>01 · PROBLEM FORMULATION</a:t>
            </a:r>
          </a:p>
        </p:txBody>
      </p:sp>
      <p:sp>
        <p:nvSpPr>
          <p:cNvPr id="3" name="TextBox 2"/>
          <p:cNvSpPr txBox="1"/>
          <p:nvPr/>
        </p:nvSpPr>
        <p:spPr>
          <a:xfrm>
            <a:off x="731520" y="621792"/>
            <a:ext cx="10728655" cy="694944"/>
          </a:xfrm>
          <a:prstGeom prst="rect">
            <a:avLst/>
          </a:prstGeom>
          <a:noFill/>
        </p:spPr>
        <p:txBody>
          <a:bodyPr wrap="square" lIns="0" tIns="0" rIns="0" bIns="0">
            <a:spAutoFit/>
          </a:bodyPr>
          <a:lstStyle/>
          <a:p>
            <a:pPr>
              <a:defRPr sz="2050" b="1">
                <a:solidFill>
                  <a:srgbClr val="FFFFFF"/>
                </a:solidFill>
                <a:latin typeface="Trebuchet MS"/>
              </a:defRPr>
            </a:pPr>
            <a:r>
              <a:t>Spatial Wi-Fi Variations Demand Interpretable Linear Algebra Over Black-Box Models</a:t>
            </a:r>
          </a:p>
        </p:txBody>
      </p:sp>
      <p:sp>
        <p:nvSpPr>
          <p:cNvPr id="4" name="TextBox 3"/>
          <p:cNvSpPr txBox="1"/>
          <p:nvPr/>
        </p:nvSpPr>
        <p:spPr>
          <a:xfrm>
            <a:off x="731520" y="1371600"/>
            <a:ext cx="10728655" cy="320040"/>
          </a:xfrm>
          <a:prstGeom prst="rect">
            <a:avLst/>
          </a:prstGeom>
          <a:noFill/>
        </p:spPr>
        <p:txBody>
          <a:bodyPr wrap="square" lIns="0" tIns="0" rIns="0" bIns="0">
            <a:spAutoFit/>
          </a:bodyPr>
          <a:lstStyle/>
          <a:p>
            <a:pPr>
              <a:defRPr sz="1150">
                <a:solidFill>
                  <a:srgbClr val="94A3B8"/>
                </a:solidFill>
                <a:latin typeface="Calibri"/>
              </a:defRPr>
            </a:pPr>
            <a:r>
              <a:t>Bounded indoor environments exhibit severe signal attenuation from structural concrete, wall shadows, and diurnal load.</a:t>
            </a:r>
          </a:p>
        </p:txBody>
      </p:sp>
      <p:sp>
        <p:nvSpPr>
          <p:cNvPr id="5" name="Rounded Rectangle 4"/>
          <p:cNvSpPr/>
          <p:nvPr/>
        </p:nvSpPr>
        <p:spPr>
          <a:xfrm>
            <a:off x="731520" y="1810512"/>
            <a:ext cx="3364992" cy="3337560"/>
          </a:xfrm>
          <a:prstGeom prst="roundRect">
            <a:avLst/>
          </a:prstGeom>
          <a:solidFill>
            <a:srgbClr val="16223F"/>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993392"/>
            <a:ext cx="2907792" cy="2971800"/>
          </a:xfrm>
          <a:prstGeom prst="rect">
            <a:avLst/>
          </a:prstGeom>
          <a:noFill/>
        </p:spPr>
        <p:txBody>
          <a:bodyPr wrap="square">
            <a:spAutoFit/>
          </a:bodyPr>
          <a:lstStyle/>
          <a:p>
            <a:pPr>
              <a:defRPr sz="1000" b="1">
                <a:solidFill>
                  <a:srgbClr val="00D2FF"/>
                </a:solidFill>
                <a:latin typeface="Liberation Mono"/>
              </a:defRPr>
            </a:pPr>
            <a:r>
              <a:t>QUESTION 01</a:t>
            </a:r>
          </a:p>
          <a:p>
            <a:pPr>
              <a:spcBef>
                <a:spcPts val="600"/>
              </a:spcBef>
              <a:defRPr sz="1500" b="1">
                <a:solidFill>
                  <a:srgbClr val="FFFFFF"/>
                </a:solidFill>
                <a:latin typeface="Trebuchet MS"/>
              </a:defRPr>
            </a:pPr>
            <a:r>
              <a:t>Which Locations Behave Similarly?</a:t>
            </a:r>
          </a:p>
          <a:p>
            <a:pPr>
              <a:spcBef>
                <a:spcPts val="800"/>
              </a:spcBef>
              <a:defRPr sz="1150">
                <a:solidFill>
                  <a:srgbClr val="EBF0F7"/>
                </a:solidFill>
                <a:latin typeface="Calibri"/>
              </a:defRPr>
            </a:pPr>
            <a:r>
              <a:t>Indoor Wi-Fi fluctuates across the day. Understanding whether two physically separated zones share identical interference or diurnal attenuation requires vector normalisation and cosine angle similarity.</a:t>
            </a:r>
          </a:p>
          <a:p>
            <a:pPr>
              <a:spcBef>
                <a:spcPts val="1200"/>
              </a:spcBef>
              <a:defRPr sz="1000" b="1">
                <a:solidFill>
                  <a:srgbClr val="00D2FF"/>
                </a:solidFill>
                <a:latin typeface="Liberation Mono"/>
              </a:defRPr>
            </a:pPr>
            <a:r>
              <a:t>Mathematical Tool: Inner Product cos(θ) = u · v</a:t>
            </a:r>
          </a:p>
        </p:txBody>
      </p:sp>
      <p:sp>
        <p:nvSpPr>
          <p:cNvPr id="7" name="Rounded Rectangle 6"/>
          <p:cNvSpPr/>
          <p:nvPr/>
        </p:nvSpPr>
        <p:spPr>
          <a:xfrm>
            <a:off x="4407408" y="1810512"/>
            <a:ext cx="3364992" cy="3337560"/>
          </a:xfrm>
          <a:prstGeom prst="roundRect">
            <a:avLst/>
          </a:prstGeom>
          <a:solidFill>
            <a:srgbClr val="16223F"/>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36008" y="1993392"/>
            <a:ext cx="2907792" cy="2971800"/>
          </a:xfrm>
          <a:prstGeom prst="rect">
            <a:avLst/>
          </a:prstGeom>
          <a:noFill/>
        </p:spPr>
        <p:txBody>
          <a:bodyPr wrap="square">
            <a:spAutoFit/>
          </a:bodyPr>
          <a:lstStyle/>
          <a:p>
            <a:pPr>
              <a:defRPr sz="1000" b="1">
                <a:solidFill>
                  <a:srgbClr val="F43F5E"/>
                </a:solidFill>
                <a:latin typeface="Liberation Mono"/>
              </a:defRPr>
            </a:pPr>
            <a:r>
              <a:t>QUESTION 02</a:t>
            </a:r>
          </a:p>
          <a:p>
            <a:pPr>
              <a:spcBef>
                <a:spcPts val="600"/>
              </a:spcBef>
              <a:defRPr sz="1500" b="1">
                <a:solidFill>
                  <a:srgbClr val="FFFFFF"/>
                </a:solidFill>
                <a:latin typeface="Trebuchet MS"/>
              </a:defRPr>
            </a:pPr>
            <a:r>
              <a:t>Where Do Weak Readings Persist?</a:t>
            </a:r>
          </a:p>
          <a:p>
            <a:pPr>
              <a:spcBef>
                <a:spcPts val="800"/>
              </a:spcBef>
              <a:defRPr sz="1150">
                <a:solidFill>
                  <a:srgbClr val="EBF0F7"/>
                </a:solidFill>
                <a:latin typeface="Calibri"/>
              </a:defRPr>
            </a:pPr>
            <a:r>
              <a:t>Single temporary dips caused by moving obstacles shouldn't trigger expensive AP relocations. We require a robust two-stage filter checking both mean signal and multi-period persistence.</a:t>
            </a:r>
          </a:p>
          <a:p>
            <a:pPr>
              <a:spcBef>
                <a:spcPts val="1200"/>
              </a:spcBef>
              <a:defRPr sz="1000" b="1">
                <a:solidFill>
                  <a:srgbClr val="F43F5E"/>
                </a:solidFill>
                <a:latin typeface="Liberation Mono"/>
              </a:defRPr>
            </a:pPr>
            <a:r>
              <a:t>Mathematical Tool: Dual-Condition Thresholding (≤ -67 dBm)</a:t>
            </a:r>
          </a:p>
        </p:txBody>
      </p:sp>
      <p:sp>
        <p:nvSpPr>
          <p:cNvPr id="9" name="Rounded Rectangle 8"/>
          <p:cNvSpPr/>
          <p:nvPr/>
        </p:nvSpPr>
        <p:spPr>
          <a:xfrm>
            <a:off x="8083296" y="1810512"/>
            <a:ext cx="3364992" cy="3337560"/>
          </a:xfrm>
          <a:prstGeom prst="roundRect">
            <a:avLst/>
          </a:prstGeom>
          <a:solidFill>
            <a:srgbClr val="16223F"/>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11896" y="1993392"/>
            <a:ext cx="2907792" cy="2971800"/>
          </a:xfrm>
          <a:prstGeom prst="rect">
            <a:avLst/>
          </a:prstGeom>
          <a:noFill/>
        </p:spPr>
        <p:txBody>
          <a:bodyPr wrap="square">
            <a:spAutoFit/>
          </a:bodyPr>
          <a:lstStyle/>
          <a:p>
            <a:pPr>
              <a:defRPr sz="1000" b="1">
                <a:solidFill>
                  <a:srgbClr val="10B981"/>
                </a:solidFill>
                <a:latin typeface="Liberation Mono"/>
              </a:defRPr>
            </a:pPr>
            <a:r>
              <a:t>QUESTION 03</a:t>
            </a:r>
          </a:p>
          <a:p>
            <a:pPr>
              <a:spcBef>
                <a:spcPts val="600"/>
              </a:spcBef>
              <a:defRPr sz="1500" b="1">
                <a:solidFill>
                  <a:srgbClr val="FFFFFF"/>
                </a:solidFill>
                <a:latin typeface="Trebuchet MS"/>
              </a:defRPr>
            </a:pPr>
            <a:r>
              <a:t>What Happens at Unmeasured Coordinates?</a:t>
            </a:r>
          </a:p>
          <a:p>
            <a:pPr>
              <a:spcBef>
                <a:spcPts val="800"/>
              </a:spcBef>
              <a:defRPr sz="1150">
                <a:solidFill>
                  <a:srgbClr val="EBF0F7"/>
                </a:solidFill>
                <a:latin typeface="Calibri"/>
              </a:defRPr>
            </a:pPr>
            <a:r>
              <a:t>Physical surveys cannot sample every square metre. Instead of deploying hundreds of IoT sensors or running heavy RF simulators, we approximate continuous signal values via least-squares spatial planes.</a:t>
            </a:r>
          </a:p>
          <a:p>
            <a:pPr>
              <a:spcBef>
                <a:spcPts val="1200"/>
              </a:spcBef>
              <a:defRPr sz="1000" b="1">
                <a:solidFill>
                  <a:srgbClr val="10B981"/>
                </a:solidFill>
                <a:latin typeface="Liberation Mono"/>
              </a:defRPr>
            </a:pPr>
            <a:r>
              <a:t>Mathematical Tool: Least Squares Fit (RSSI ≈ β₀ + β₁x + β₂y)</a:t>
            </a:r>
          </a:p>
        </p:txBody>
      </p:sp>
      <p:sp>
        <p:nvSpPr>
          <p:cNvPr id="11" name="Rounded Rectangle 10"/>
          <p:cNvSpPr/>
          <p:nvPr/>
        </p:nvSpPr>
        <p:spPr>
          <a:xfrm>
            <a:off x="731520" y="5321808"/>
            <a:ext cx="10728655" cy="868680"/>
          </a:xfrm>
          <a:prstGeom prst="roundRect">
            <a:avLst/>
          </a:prstGeom>
          <a:solidFill>
            <a:srgbClr val="1C2B50"/>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5413248"/>
            <a:ext cx="10362895" cy="685800"/>
          </a:xfrm>
          <a:prstGeom prst="rect">
            <a:avLst/>
          </a:prstGeom>
          <a:noFill/>
        </p:spPr>
        <p:txBody>
          <a:bodyPr wrap="square">
            <a:spAutoFit/>
          </a:bodyPr>
          <a:lstStyle/>
          <a:p>
            <a:pPr>
              <a:defRPr sz="1000" b="1">
                <a:solidFill>
                  <a:srgbClr val="FBBF24"/>
                </a:solidFill>
                <a:latin typeface="Liberation Mono"/>
              </a:defRPr>
            </a:pPr>
            <a:r>
              <a:t>CORE PROJECT LOGIC PIPELINE:</a:t>
            </a:r>
          </a:p>
          <a:p>
            <a:pPr>
              <a:spcBef>
                <a:spcPts val="300"/>
              </a:spcBef>
              <a:defRPr sz="1150" b="1">
                <a:solidFill>
                  <a:srgbClr val="FFFFFF"/>
                </a:solidFill>
                <a:latin typeface="Calibri"/>
              </a:defRPr>
            </a:pPr>
            <a:r>
              <a:t>Measure Survey RSSI  →  Construct 20×3 Matrix A  →  Normalise Signal Vectors  →  Quantify Cosine Similarity  →  Fit Least-Squares Plane  →  Detect Dead Zones  →  Eigen Decomposition</a:t>
            </a:r>
          </a:p>
        </p:txBody>
      </p:sp>
      <p:sp>
        <p:nvSpPr>
          <p:cNvPr id="13" name="Rectangle 12"/>
          <p:cNvSpPr/>
          <p:nvPr/>
        </p:nvSpPr>
        <p:spPr>
          <a:xfrm>
            <a:off x="731520" y="6400800"/>
            <a:ext cx="10728655" cy="12700"/>
          </a:xfrm>
          <a:prstGeom prst="rect">
            <a:avLst/>
          </a:prstGeom>
          <a:solidFill>
            <a:srgbClr val="2A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6446520"/>
            <a:ext cx="6400800" cy="274320"/>
          </a:xfrm>
          <a:prstGeom prst="rect">
            <a:avLst/>
          </a:prstGeom>
          <a:noFill/>
        </p:spPr>
        <p:txBody>
          <a:bodyPr wrap="none" lIns="0" tIns="0" rIns="0" bIns="0">
            <a:spAutoFit/>
          </a:bodyPr>
          <a:lstStyle/>
          <a:p>
            <a:pPr>
              <a:defRPr sz="950">
                <a:solidFill>
                  <a:srgbClr val="94A3B8"/>
                </a:solidFill>
                <a:latin typeface="Calibri"/>
              </a:defRPr>
            </a:pPr>
            <a:r>
              <a:t>UE25MA242A · MFAD 2026  |  Wi-FiScope: Campus Wi-Fi Signal Intelligence via Linear Algebra</a:t>
            </a:r>
          </a:p>
        </p:txBody>
      </p:sp>
      <p:sp>
        <p:nvSpPr>
          <p:cNvPr id="15" name="TextBox 14"/>
          <p:cNvSpPr txBox="1"/>
          <p:nvPr/>
        </p:nvSpPr>
        <p:spPr>
          <a:xfrm>
            <a:off x="9631375" y="6446520"/>
            <a:ext cx="1828800" cy="274320"/>
          </a:xfrm>
          <a:prstGeom prst="rect">
            <a:avLst/>
          </a:prstGeom>
          <a:noFill/>
        </p:spPr>
        <p:txBody>
          <a:bodyPr wrap="none" lIns="0" tIns="0" rIns="0" bIns="0">
            <a:spAutoFit/>
          </a:bodyPr>
          <a:lstStyle/>
          <a:p>
            <a:pPr algn="r">
              <a:defRPr sz="950" b="1">
                <a:solidFill>
                  <a:srgbClr val="00D2FF"/>
                </a:solidFill>
                <a:latin typeface="Liberation Mono"/>
              </a:defRPr>
            </a:pPr>
            <a:r>
              <a:t>02 / 11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2926080" cy="256032"/>
          </a:xfrm>
          <a:prstGeom prst="roundRect">
            <a:avLst/>
          </a:prstGeom>
          <a:solidFill>
            <a:srgbClr val="1C2B50"/>
          </a:solidFill>
          <a:ln w="12700">
            <a:solidFill>
              <a:srgbClr val="3B5288"/>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00D2FF"/>
                </a:solidFill>
                <a:latin typeface="Trebuchet MS"/>
              </a:defRPr>
            </a:pPr>
            <a:r>
              <a:t>02 · SPATIAL DATA MODEL</a:t>
            </a:r>
          </a:p>
        </p:txBody>
      </p:sp>
      <p:sp>
        <p:nvSpPr>
          <p:cNvPr id="3" name="TextBox 2"/>
          <p:cNvSpPr txBox="1"/>
          <p:nvPr/>
        </p:nvSpPr>
        <p:spPr>
          <a:xfrm>
            <a:off x="731520" y="621792"/>
            <a:ext cx="10728655" cy="694944"/>
          </a:xfrm>
          <a:prstGeom prst="rect">
            <a:avLst/>
          </a:prstGeom>
          <a:noFill/>
        </p:spPr>
        <p:txBody>
          <a:bodyPr wrap="square" lIns="0" tIns="0" rIns="0" bIns="0">
            <a:spAutoFit/>
          </a:bodyPr>
          <a:lstStyle/>
          <a:p>
            <a:pPr>
              <a:defRPr sz="2050" b="1">
                <a:solidFill>
                  <a:srgbClr val="FFFFFF"/>
                </a:solidFill>
                <a:latin typeface="Trebuchet MS"/>
              </a:defRPr>
            </a:pPr>
            <a:r>
              <a:t>Physical Survey Parameters Map Directly into a Structured 20 × 3 Matrix</a:t>
            </a:r>
          </a:p>
        </p:txBody>
      </p:sp>
      <p:sp>
        <p:nvSpPr>
          <p:cNvPr id="4" name="TextBox 3"/>
          <p:cNvSpPr txBox="1"/>
          <p:nvPr/>
        </p:nvSpPr>
        <p:spPr>
          <a:xfrm>
            <a:off x="731520" y="1371600"/>
            <a:ext cx="10728655" cy="320040"/>
          </a:xfrm>
          <a:prstGeom prst="rect">
            <a:avLst/>
          </a:prstGeom>
          <a:noFill/>
        </p:spPr>
        <p:txBody>
          <a:bodyPr wrap="square" lIns="0" tIns="0" rIns="0" bIns="0">
            <a:spAutoFit/>
          </a:bodyPr>
          <a:lstStyle/>
          <a:p>
            <a:pPr>
              <a:defRPr sz="1150">
                <a:solidFill>
                  <a:srgbClr val="94A3B8"/>
                </a:solidFill>
                <a:latin typeface="Calibri"/>
              </a:defRPr>
            </a:pPr>
            <a:r>
              <a:t>Every survey observation preserves spatial coordinates (X, Y) and multi-period readings (Morning, Afternoon, Evening).</a:t>
            </a:r>
          </a:p>
        </p:txBody>
      </p:sp>
      <p:sp>
        <p:nvSpPr>
          <p:cNvPr id="5" name="Rounded Rectangle 4"/>
          <p:cNvSpPr/>
          <p:nvPr/>
        </p:nvSpPr>
        <p:spPr>
          <a:xfrm>
            <a:off x="731520" y="1810512"/>
            <a:ext cx="4754880" cy="4407408"/>
          </a:xfrm>
          <a:prstGeom prst="roundRect">
            <a:avLst/>
          </a:prstGeom>
          <a:solidFill>
            <a:srgbClr val="16223F"/>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965960"/>
            <a:ext cx="4297680" cy="4023360"/>
          </a:xfrm>
          <a:prstGeom prst="rect">
            <a:avLst/>
          </a:prstGeom>
          <a:noFill/>
        </p:spPr>
        <p:txBody>
          <a:bodyPr wrap="square">
            <a:spAutoFit/>
          </a:bodyPr>
          <a:lstStyle/>
          <a:p>
            <a:pPr>
              <a:defRPr sz="1400" b="1">
                <a:solidFill>
                  <a:srgbClr val="00D2FF"/>
                </a:solidFill>
                <a:latin typeface="Trebuchet MS"/>
              </a:defRPr>
            </a:pPr>
            <a:r>
              <a:t>SURVEY RECORD STRUCTURE</a:t>
            </a:r>
          </a:p>
          <a:p>
            <a:pPr>
              <a:spcBef>
                <a:spcPts val="400"/>
              </a:spcBef>
              <a:defRPr sz="1150">
                <a:solidFill>
                  <a:srgbClr val="EBF0F7"/>
                </a:solidFill>
                <a:latin typeface="Calibri"/>
              </a:defRPr>
            </a:pPr>
            <a:r>
              <a:t>Each physical reading is catalogued as a 7-tuple record:</a:t>
            </a:r>
          </a:p>
          <a:p>
            <a:pPr>
              <a:spcBef>
                <a:spcPts val="300"/>
              </a:spcBef>
              <a:defRPr sz="1050" b="1">
                <a:solidFill>
                  <a:srgbClr val="FBBF24"/>
                </a:solidFill>
                <a:latin typeface="Liberation Mono"/>
              </a:defRPr>
            </a:pPr>
            <a:r>
              <a:t>• Location_ID: </a:t>
            </a:r>
            <a:r>
              <a:rPr sz="1050" b="0">
                <a:solidFill>
                  <a:srgbClr val="94A3B8"/>
                </a:solidFill>
                <a:latin typeface="Calibri"/>
              </a:rPr>
              <a:t>Unique identifier for grid cell (L01 to L20)</a:t>
            </a:r>
          </a:p>
          <a:p>
            <a:pPr>
              <a:spcBef>
                <a:spcPts val="300"/>
              </a:spcBef>
              <a:defRPr sz="1050" b="1">
                <a:solidFill>
                  <a:srgbClr val="FBBF24"/>
                </a:solidFill>
                <a:latin typeface="Liberation Mono"/>
              </a:defRPr>
            </a:pPr>
            <a:r>
              <a:t>• Location_Name: </a:t>
            </a:r>
            <a:r>
              <a:rPr sz="1050" b="0">
                <a:solidFill>
                  <a:srgbClr val="94A3B8"/>
                </a:solidFill>
                <a:latin typeface="Calibri"/>
              </a:rPr>
              <a:t>Descriptive zone reference (e.g., Lab East, Corridor)</a:t>
            </a:r>
          </a:p>
          <a:p>
            <a:pPr>
              <a:spcBef>
                <a:spcPts val="300"/>
              </a:spcBef>
              <a:defRPr sz="1050" b="1">
                <a:solidFill>
                  <a:srgbClr val="FBBF24"/>
                </a:solidFill>
                <a:latin typeface="Liberation Mono"/>
              </a:defRPr>
            </a:pPr>
            <a:r>
              <a:t>• Floor: </a:t>
            </a:r>
            <a:r>
              <a:rPr sz="1050" b="0">
                <a:solidFill>
                  <a:srgbClr val="94A3B8"/>
                </a:solidFill>
                <a:latin typeface="Calibri"/>
              </a:rPr>
              <a:t>Vertical level of surveyed campus building</a:t>
            </a:r>
          </a:p>
          <a:p>
            <a:pPr>
              <a:spcBef>
                <a:spcPts val="300"/>
              </a:spcBef>
              <a:defRPr sz="1050" b="1">
                <a:solidFill>
                  <a:srgbClr val="FBBF24"/>
                </a:solidFill>
                <a:latin typeface="Liberation Mono"/>
              </a:defRPr>
            </a:pPr>
            <a:r>
              <a:t>• X_m, Y_m: </a:t>
            </a:r>
            <a:r>
              <a:rPr sz="1050" b="0">
                <a:solidFill>
                  <a:srgbClr val="94A3B8"/>
                </a:solidFill>
                <a:latin typeface="Calibri"/>
              </a:rPr>
              <a:t>Local Cartesian coordinates in metres for spatial fitting</a:t>
            </a:r>
          </a:p>
          <a:p>
            <a:pPr>
              <a:spcBef>
                <a:spcPts val="300"/>
              </a:spcBef>
              <a:defRPr sz="1050" b="1">
                <a:solidFill>
                  <a:srgbClr val="FBBF24"/>
                </a:solidFill>
                <a:latin typeface="Liberation Mono"/>
              </a:defRPr>
            </a:pPr>
            <a:r>
              <a:t>• Time_Period: </a:t>
            </a:r>
            <a:r>
              <a:rPr sz="1050" b="0">
                <a:solidFill>
                  <a:srgbClr val="94A3B8"/>
                </a:solidFill>
                <a:latin typeface="Calibri"/>
              </a:rPr>
              <a:t>Survey observation epoch (Morning, Afternoon, Evening)</a:t>
            </a:r>
          </a:p>
          <a:p>
            <a:pPr>
              <a:spcBef>
                <a:spcPts val="300"/>
              </a:spcBef>
              <a:defRPr sz="1050" b="1">
                <a:solidFill>
                  <a:srgbClr val="FBBF24"/>
                </a:solidFill>
                <a:latin typeface="Liberation Mono"/>
              </a:defRPr>
            </a:pPr>
            <a:r>
              <a:t>• RSSI_dBm: </a:t>
            </a:r>
            <a:r>
              <a:rPr sz="1050" b="0">
                <a:solidFill>
                  <a:srgbClr val="94A3B8"/>
                </a:solidFill>
                <a:latin typeface="Calibri"/>
              </a:rPr>
              <a:t>Received Signal Strength Indicator (dBm)</a:t>
            </a:r>
          </a:p>
          <a:p>
            <a:pPr>
              <a:spcBef>
                <a:spcPts val="1200"/>
              </a:spcBef>
              <a:defRPr sz="1300" b="1">
                <a:solidFill>
                  <a:srgbClr val="FFFFFF"/>
                </a:solidFill>
                <a:latin typeface="Trebuchet MS"/>
              </a:defRPr>
            </a:pPr>
            <a:r>
              <a:t>Why Metre Coordinates?</a:t>
            </a:r>
          </a:p>
          <a:p>
            <a:pPr>
              <a:spcBef>
                <a:spcPts val="200"/>
              </a:spcBef>
              <a:defRPr sz="1100">
                <a:solidFill>
                  <a:srgbClr val="EBF0F7"/>
                </a:solidFill>
                <a:latin typeface="Calibri"/>
              </a:defRPr>
            </a:pPr>
            <a:r>
              <a:t>Local metres translate physical space into a continuous metric space, enabling first-order spatial gradients (dBm/m) directly via Linear Algebra.</a:t>
            </a:r>
          </a:p>
        </p:txBody>
      </p:sp>
      <p:sp>
        <p:nvSpPr>
          <p:cNvPr id="7" name="Rounded Rectangle 6"/>
          <p:cNvSpPr/>
          <p:nvPr/>
        </p:nvSpPr>
        <p:spPr>
          <a:xfrm>
            <a:off x="5715000" y="1810512"/>
            <a:ext cx="5742432" cy="4407408"/>
          </a:xfrm>
          <a:prstGeom prst="roundRect">
            <a:avLst/>
          </a:prstGeom>
          <a:solidFill>
            <a:srgbClr val="16223F"/>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0" y="1965960"/>
            <a:ext cx="5303520" cy="1371600"/>
          </a:xfrm>
          <a:prstGeom prst="rect">
            <a:avLst/>
          </a:prstGeom>
          <a:noFill/>
        </p:spPr>
        <p:txBody>
          <a:bodyPr wrap="square">
            <a:spAutoFit/>
          </a:bodyPr>
          <a:lstStyle/>
          <a:p>
            <a:pPr>
              <a:defRPr sz="1400" b="1">
                <a:solidFill>
                  <a:srgbClr val="10B981"/>
                </a:solidFill>
                <a:latin typeface="Trebuchet MS"/>
              </a:defRPr>
            </a:pPr>
            <a:r>
              <a:t>MATRIX A ∈ ℝ²⁰ˣ³ (LOCATIONS × TIME)</a:t>
            </a:r>
          </a:p>
          <a:p>
            <a:pPr>
              <a:spcBef>
                <a:spcPts val="300"/>
              </a:spcBef>
              <a:defRPr sz="1100">
                <a:solidFill>
                  <a:srgbClr val="EBF0F7"/>
                </a:solidFill>
                <a:latin typeface="Calibri"/>
              </a:defRPr>
            </a:pPr>
            <a:r>
              <a:t>Rows represent physical locations (L01–L20); columns represent survey periods. Entries represent measured RSSI values: A = [RSSI(location, time)].</a:t>
            </a:r>
          </a:p>
        </p:txBody>
      </p:sp>
      <p:graphicFrame>
        <p:nvGraphicFramePr>
          <p:cNvPr id="9" name="Table 8"/>
          <p:cNvGraphicFramePr>
            <a:graphicFrameLocks noGrp="1"/>
          </p:cNvGraphicFramePr>
          <p:nvPr/>
        </p:nvGraphicFramePr>
        <p:xfrm>
          <a:off x="5943600" y="2926080"/>
          <a:ext cx="5285232" cy="1828800"/>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124712">
                  <a:extLst>
                    <a:ext uri="{9D8B030D-6E8A-4147-A177-3AD203B41FA5}">
                      <a16:colId xmlns:a16="http://schemas.microsoft.com/office/drawing/2014/main" val="20004"/>
                    </a:ext>
                  </a:extLst>
                </a:gridCol>
              </a:tblGrid>
              <a:tr h="304800">
                <a:tc>
                  <a:txBody>
                    <a:bodyPr/>
                    <a:lstStyle/>
                    <a:p>
                      <a:pPr algn="ctr">
                        <a:defRPr sz="1050" b="1">
                          <a:solidFill>
                            <a:srgbClr val="00D2FF"/>
                          </a:solidFill>
                          <a:latin typeface="Calibri"/>
                        </a:defRPr>
                      </a:pPr>
                      <a:r>
                        <a:t>Location</a:t>
                      </a:r>
                    </a:p>
                  </a:txBody>
                  <a:tcPr>
                    <a:solidFill>
                      <a:srgbClr val="1C2B50"/>
                    </a:solidFill>
                  </a:tcPr>
                </a:tc>
                <a:tc>
                  <a:txBody>
                    <a:bodyPr/>
                    <a:lstStyle/>
                    <a:p>
                      <a:pPr algn="ctr">
                        <a:defRPr sz="1050" b="1">
                          <a:solidFill>
                            <a:srgbClr val="00D2FF"/>
                          </a:solidFill>
                          <a:latin typeface="Calibri"/>
                        </a:defRPr>
                      </a:pPr>
                      <a:r>
                        <a:t>Morning</a:t>
                      </a:r>
                    </a:p>
                  </a:txBody>
                  <a:tcPr>
                    <a:solidFill>
                      <a:srgbClr val="1C2B50"/>
                    </a:solidFill>
                  </a:tcPr>
                </a:tc>
                <a:tc>
                  <a:txBody>
                    <a:bodyPr/>
                    <a:lstStyle/>
                    <a:p>
                      <a:pPr algn="ctr">
                        <a:defRPr sz="1050" b="1">
                          <a:solidFill>
                            <a:srgbClr val="00D2FF"/>
                          </a:solidFill>
                          <a:latin typeface="Calibri"/>
                        </a:defRPr>
                      </a:pPr>
                      <a:r>
                        <a:t>Afternoon</a:t>
                      </a:r>
                    </a:p>
                  </a:txBody>
                  <a:tcPr>
                    <a:solidFill>
                      <a:srgbClr val="1C2B50"/>
                    </a:solidFill>
                  </a:tcPr>
                </a:tc>
                <a:tc>
                  <a:txBody>
                    <a:bodyPr/>
                    <a:lstStyle/>
                    <a:p>
                      <a:pPr algn="ctr">
                        <a:defRPr sz="1050" b="1">
                          <a:solidFill>
                            <a:srgbClr val="00D2FF"/>
                          </a:solidFill>
                          <a:latin typeface="Calibri"/>
                        </a:defRPr>
                      </a:pPr>
                      <a:r>
                        <a:t>Evening</a:t>
                      </a:r>
                    </a:p>
                  </a:txBody>
                  <a:tcPr>
                    <a:solidFill>
                      <a:srgbClr val="1C2B50"/>
                    </a:solidFill>
                  </a:tcPr>
                </a:tc>
                <a:tc>
                  <a:txBody>
                    <a:bodyPr/>
                    <a:lstStyle/>
                    <a:p>
                      <a:pPr algn="ctr">
                        <a:defRPr sz="1050" b="1">
                          <a:solidFill>
                            <a:srgbClr val="00D2FF"/>
                          </a:solidFill>
                          <a:latin typeface="Calibri"/>
                        </a:defRPr>
                      </a:pPr>
                      <a:r>
                        <a:t>Status</a:t>
                      </a:r>
                    </a:p>
                  </a:txBody>
                  <a:tcPr>
                    <a:solidFill>
                      <a:srgbClr val="1C2B50"/>
                    </a:solidFill>
                  </a:tcPr>
                </a:tc>
                <a:extLst>
                  <a:ext uri="{0D108BD9-81ED-4DB2-BD59-A6C34878D82A}">
                    <a16:rowId xmlns:a16="http://schemas.microsoft.com/office/drawing/2014/main" val="10000"/>
                  </a:ext>
                </a:extLst>
              </a:tr>
              <a:tr h="304800">
                <a:tc>
                  <a:txBody>
                    <a:bodyPr/>
                    <a:lstStyle/>
                    <a:p>
                      <a:pPr algn="ctr">
                        <a:defRPr sz="1000" b="1">
                          <a:solidFill>
                            <a:srgbClr val="EBF0F7"/>
                          </a:solidFill>
                          <a:latin typeface="Liberation Mono"/>
                        </a:defRPr>
                      </a:pPr>
                      <a:r>
                        <a:t>L01 (Ref)</a:t>
                      </a:r>
                    </a:p>
                  </a:txBody>
                  <a:tcPr>
                    <a:solidFill>
                      <a:srgbClr val="16223F"/>
                    </a:solidFill>
                  </a:tcPr>
                </a:tc>
                <a:tc>
                  <a:txBody>
                    <a:bodyPr/>
                    <a:lstStyle/>
                    <a:p>
                      <a:pPr algn="ctr">
                        <a:defRPr sz="1000" b="0">
                          <a:solidFill>
                            <a:srgbClr val="EBF0F7"/>
                          </a:solidFill>
                          <a:latin typeface="Liberation Mono"/>
                        </a:defRPr>
                      </a:pPr>
                      <a:r>
                        <a:t>-46.2 dBm</a:t>
                      </a:r>
                    </a:p>
                  </a:txBody>
                  <a:tcPr>
                    <a:solidFill>
                      <a:srgbClr val="16223F"/>
                    </a:solidFill>
                  </a:tcPr>
                </a:tc>
                <a:tc>
                  <a:txBody>
                    <a:bodyPr/>
                    <a:lstStyle/>
                    <a:p>
                      <a:pPr algn="ctr">
                        <a:defRPr sz="1000" b="0">
                          <a:solidFill>
                            <a:srgbClr val="EBF0F7"/>
                          </a:solidFill>
                          <a:latin typeface="Liberation Mono"/>
                        </a:defRPr>
                      </a:pPr>
                      <a:r>
                        <a:t>-48.0 dBm</a:t>
                      </a:r>
                    </a:p>
                  </a:txBody>
                  <a:tcPr>
                    <a:solidFill>
                      <a:srgbClr val="16223F"/>
                    </a:solidFill>
                  </a:tcPr>
                </a:tc>
                <a:tc>
                  <a:txBody>
                    <a:bodyPr/>
                    <a:lstStyle/>
                    <a:p>
                      <a:pPr algn="ctr">
                        <a:defRPr sz="1000" b="0">
                          <a:solidFill>
                            <a:srgbClr val="EBF0F7"/>
                          </a:solidFill>
                          <a:latin typeface="Liberation Mono"/>
                        </a:defRPr>
                      </a:pPr>
                      <a:r>
                        <a:t>-48.8 dBm</a:t>
                      </a:r>
                    </a:p>
                  </a:txBody>
                  <a:tcPr>
                    <a:solidFill>
                      <a:srgbClr val="16223F"/>
                    </a:solidFill>
                  </a:tcPr>
                </a:tc>
                <a:tc>
                  <a:txBody>
                    <a:bodyPr/>
                    <a:lstStyle/>
                    <a:p>
                      <a:pPr algn="ctr">
                        <a:defRPr sz="1000" b="1">
                          <a:solidFill>
                            <a:srgbClr val="10B981"/>
                          </a:solidFill>
                          <a:latin typeface="Calibri"/>
                        </a:defRPr>
                      </a:pPr>
                      <a:r>
                        <a:t>Strong Ref</a:t>
                      </a:r>
                    </a:p>
                  </a:txBody>
                  <a:tcPr>
                    <a:solidFill>
                      <a:srgbClr val="16223F"/>
                    </a:solidFill>
                  </a:tcPr>
                </a:tc>
                <a:extLst>
                  <a:ext uri="{0D108BD9-81ED-4DB2-BD59-A6C34878D82A}">
                    <a16:rowId xmlns:a16="http://schemas.microsoft.com/office/drawing/2014/main" val="10001"/>
                  </a:ext>
                </a:extLst>
              </a:tr>
              <a:tr h="304800">
                <a:tc>
                  <a:txBody>
                    <a:bodyPr/>
                    <a:lstStyle/>
                    <a:p>
                      <a:pPr algn="ctr">
                        <a:defRPr sz="1000" b="1">
                          <a:solidFill>
                            <a:srgbClr val="EBF0F7"/>
                          </a:solidFill>
                          <a:latin typeface="Liberation Mono"/>
                        </a:defRPr>
                      </a:pPr>
                      <a:r>
                        <a:t>L05</a:t>
                      </a:r>
                    </a:p>
                  </a:txBody>
                  <a:tcPr>
                    <a:solidFill>
                      <a:srgbClr val="0B132B"/>
                    </a:solidFill>
                  </a:tcPr>
                </a:tc>
                <a:tc>
                  <a:txBody>
                    <a:bodyPr/>
                    <a:lstStyle/>
                    <a:p>
                      <a:pPr algn="ctr">
                        <a:defRPr sz="1000" b="0">
                          <a:solidFill>
                            <a:srgbClr val="EBF0F7"/>
                          </a:solidFill>
                          <a:latin typeface="Liberation Mono"/>
                        </a:defRPr>
                      </a:pPr>
                      <a:r>
                        <a:t>-55.2 dBm</a:t>
                      </a:r>
                    </a:p>
                  </a:txBody>
                  <a:tcPr>
                    <a:solidFill>
                      <a:srgbClr val="0B132B"/>
                    </a:solidFill>
                  </a:tcPr>
                </a:tc>
                <a:tc>
                  <a:txBody>
                    <a:bodyPr/>
                    <a:lstStyle/>
                    <a:p>
                      <a:pPr algn="ctr">
                        <a:defRPr sz="1000" b="0">
                          <a:solidFill>
                            <a:srgbClr val="EBF0F7"/>
                          </a:solidFill>
                          <a:latin typeface="Liberation Mono"/>
                        </a:defRPr>
                      </a:pPr>
                      <a:r>
                        <a:t>-60.7 dBm</a:t>
                      </a:r>
                    </a:p>
                  </a:txBody>
                  <a:tcPr>
                    <a:solidFill>
                      <a:srgbClr val="0B132B"/>
                    </a:solidFill>
                  </a:tcPr>
                </a:tc>
                <a:tc>
                  <a:txBody>
                    <a:bodyPr/>
                    <a:lstStyle/>
                    <a:p>
                      <a:pPr algn="ctr">
                        <a:defRPr sz="1000" b="0">
                          <a:solidFill>
                            <a:srgbClr val="EBF0F7"/>
                          </a:solidFill>
                          <a:latin typeface="Liberation Mono"/>
                        </a:defRPr>
                      </a:pPr>
                      <a:r>
                        <a:t>-59.3 dBm</a:t>
                      </a:r>
                    </a:p>
                  </a:txBody>
                  <a:tcPr>
                    <a:solidFill>
                      <a:srgbClr val="0B132B"/>
                    </a:solidFill>
                  </a:tcPr>
                </a:tc>
                <a:tc>
                  <a:txBody>
                    <a:bodyPr/>
                    <a:lstStyle/>
                    <a:p>
                      <a:pPr algn="ctr">
                        <a:defRPr sz="1000" b="1">
                          <a:solidFill>
                            <a:srgbClr val="EBF0F7"/>
                          </a:solidFill>
                          <a:latin typeface="Calibri"/>
                        </a:defRPr>
                      </a:pPr>
                      <a:r>
                        <a:t>Nominal</a:t>
                      </a:r>
                    </a:p>
                  </a:txBody>
                  <a:tcPr>
                    <a:solidFill>
                      <a:srgbClr val="0B132B"/>
                    </a:solidFill>
                  </a:tcPr>
                </a:tc>
                <a:extLst>
                  <a:ext uri="{0D108BD9-81ED-4DB2-BD59-A6C34878D82A}">
                    <a16:rowId xmlns:a16="http://schemas.microsoft.com/office/drawing/2014/main" val="10002"/>
                  </a:ext>
                </a:extLst>
              </a:tr>
              <a:tr h="304800">
                <a:tc>
                  <a:txBody>
                    <a:bodyPr/>
                    <a:lstStyle/>
                    <a:p>
                      <a:pPr algn="ctr">
                        <a:defRPr sz="1000" b="1">
                          <a:solidFill>
                            <a:srgbClr val="EBF0F7"/>
                          </a:solidFill>
                          <a:latin typeface="Liberation Mono"/>
                        </a:defRPr>
                      </a:pPr>
                      <a:r>
                        <a:t>L14</a:t>
                      </a:r>
                    </a:p>
                  </a:txBody>
                  <a:tcPr>
                    <a:solidFill>
                      <a:srgbClr val="16223F"/>
                    </a:solidFill>
                  </a:tcPr>
                </a:tc>
                <a:tc>
                  <a:txBody>
                    <a:bodyPr/>
                    <a:lstStyle/>
                    <a:p>
                      <a:pPr algn="ctr">
                        <a:defRPr sz="1000" b="0">
                          <a:solidFill>
                            <a:srgbClr val="EBF0F7"/>
                          </a:solidFill>
                          <a:latin typeface="Liberation Mono"/>
                        </a:defRPr>
                      </a:pPr>
                      <a:r>
                        <a:t>-65.2 dBm</a:t>
                      </a:r>
                    </a:p>
                  </a:txBody>
                  <a:tcPr>
                    <a:solidFill>
                      <a:srgbClr val="16223F"/>
                    </a:solidFill>
                  </a:tcPr>
                </a:tc>
                <a:tc>
                  <a:txBody>
                    <a:bodyPr/>
                    <a:lstStyle/>
                    <a:p>
                      <a:pPr algn="ctr">
                        <a:defRPr sz="1000" b="0">
                          <a:solidFill>
                            <a:srgbClr val="EBF0F7"/>
                          </a:solidFill>
                          <a:latin typeface="Liberation Mono"/>
                        </a:defRPr>
                      </a:pPr>
                      <a:r>
                        <a:t>-68.7 dBm</a:t>
                      </a:r>
                    </a:p>
                  </a:txBody>
                  <a:tcPr>
                    <a:solidFill>
                      <a:srgbClr val="16223F"/>
                    </a:solidFill>
                  </a:tcPr>
                </a:tc>
                <a:tc>
                  <a:txBody>
                    <a:bodyPr/>
                    <a:lstStyle/>
                    <a:p>
                      <a:pPr algn="ctr">
                        <a:defRPr sz="1000" b="0">
                          <a:solidFill>
                            <a:srgbClr val="EBF0F7"/>
                          </a:solidFill>
                          <a:latin typeface="Liberation Mono"/>
                        </a:defRPr>
                      </a:pPr>
                      <a:r>
                        <a:t>-68.3 dBm</a:t>
                      </a:r>
                    </a:p>
                  </a:txBody>
                  <a:tcPr>
                    <a:solidFill>
                      <a:srgbClr val="16223F"/>
                    </a:solidFill>
                  </a:tcPr>
                </a:tc>
                <a:tc>
                  <a:txBody>
                    <a:bodyPr/>
                    <a:lstStyle/>
                    <a:p>
                      <a:pPr algn="ctr">
                        <a:defRPr sz="1000" b="1">
                          <a:solidFill>
                            <a:srgbClr val="FBBF24"/>
                          </a:solidFill>
                          <a:latin typeface="Calibri"/>
                        </a:defRPr>
                      </a:pPr>
                      <a:r>
                        <a:t>Weak Alert</a:t>
                      </a:r>
                    </a:p>
                  </a:txBody>
                  <a:tcPr>
                    <a:solidFill>
                      <a:srgbClr val="16223F"/>
                    </a:solidFill>
                  </a:tcPr>
                </a:tc>
                <a:extLst>
                  <a:ext uri="{0D108BD9-81ED-4DB2-BD59-A6C34878D82A}">
                    <a16:rowId xmlns:a16="http://schemas.microsoft.com/office/drawing/2014/main" val="10003"/>
                  </a:ext>
                </a:extLst>
              </a:tr>
              <a:tr h="304800">
                <a:tc>
                  <a:txBody>
                    <a:bodyPr/>
                    <a:lstStyle/>
                    <a:p>
                      <a:pPr algn="ctr">
                        <a:defRPr sz="1000" b="1">
                          <a:solidFill>
                            <a:srgbClr val="EBF0F7"/>
                          </a:solidFill>
                          <a:latin typeface="Liberation Mono"/>
                        </a:defRPr>
                      </a:pPr>
                      <a:r>
                        <a:t>L15</a:t>
                      </a:r>
                    </a:p>
                  </a:txBody>
                  <a:tcPr>
                    <a:solidFill>
                      <a:srgbClr val="0B132B"/>
                    </a:solidFill>
                  </a:tcPr>
                </a:tc>
                <a:tc>
                  <a:txBody>
                    <a:bodyPr/>
                    <a:lstStyle/>
                    <a:p>
                      <a:pPr algn="ctr">
                        <a:defRPr sz="1000" b="0">
                          <a:solidFill>
                            <a:srgbClr val="EBF0F7"/>
                          </a:solidFill>
                          <a:latin typeface="Liberation Mono"/>
                        </a:defRPr>
                      </a:pPr>
                      <a:r>
                        <a:t>-68.3 dBm</a:t>
                      </a:r>
                    </a:p>
                  </a:txBody>
                  <a:tcPr>
                    <a:solidFill>
                      <a:srgbClr val="0B132B"/>
                    </a:solidFill>
                  </a:tcPr>
                </a:tc>
                <a:tc>
                  <a:txBody>
                    <a:bodyPr/>
                    <a:lstStyle/>
                    <a:p>
                      <a:pPr algn="ctr">
                        <a:defRPr sz="1000" b="0">
                          <a:solidFill>
                            <a:srgbClr val="EBF0F7"/>
                          </a:solidFill>
                          <a:latin typeface="Liberation Mono"/>
                        </a:defRPr>
                      </a:pPr>
                      <a:r>
                        <a:t>-71.1 dBm</a:t>
                      </a:r>
                    </a:p>
                  </a:txBody>
                  <a:tcPr>
                    <a:solidFill>
                      <a:srgbClr val="0B132B"/>
                    </a:solidFill>
                  </a:tcPr>
                </a:tc>
                <a:tc>
                  <a:txBody>
                    <a:bodyPr/>
                    <a:lstStyle/>
                    <a:p>
                      <a:pPr algn="ctr">
                        <a:defRPr sz="1000" b="0">
                          <a:solidFill>
                            <a:srgbClr val="EBF0F7"/>
                          </a:solidFill>
                          <a:latin typeface="Liberation Mono"/>
                        </a:defRPr>
                      </a:pPr>
                      <a:r>
                        <a:t>-71.4 dBm</a:t>
                      </a:r>
                    </a:p>
                  </a:txBody>
                  <a:tcPr>
                    <a:solidFill>
                      <a:srgbClr val="0B132B"/>
                    </a:solidFill>
                  </a:tcPr>
                </a:tc>
                <a:tc>
                  <a:txBody>
                    <a:bodyPr/>
                    <a:lstStyle/>
                    <a:p>
                      <a:pPr algn="ctr">
                        <a:defRPr sz="1000" b="1">
                          <a:solidFill>
                            <a:srgbClr val="F43F5E"/>
                          </a:solidFill>
                          <a:latin typeface="Calibri"/>
                        </a:defRPr>
                      </a:pPr>
                      <a:r>
                        <a:t>Dead Zone</a:t>
                      </a:r>
                    </a:p>
                  </a:txBody>
                  <a:tcPr>
                    <a:solidFill>
                      <a:srgbClr val="0B132B"/>
                    </a:solidFill>
                  </a:tcPr>
                </a:tc>
                <a:extLst>
                  <a:ext uri="{0D108BD9-81ED-4DB2-BD59-A6C34878D82A}">
                    <a16:rowId xmlns:a16="http://schemas.microsoft.com/office/drawing/2014/main" val="10004"/>
                  </a:ext>
                </a:extLst>
              </a:tr>
              <a:tr h="304800">
                <a:tc>
                  <a:txBody>
                    <a:bodyPr/>
                    <a:lstStyle/>
                    <a:p>
                      <a:pPr algn="ctr">
                        <a:defRPr sz="1000" b="1">
                          <a:solidFill>
                            <a:srgbClr val="EBF0F7"/>
                          </a:solidFill>
                          <a:latin typeface="Liberation Mono"/>
                        </a:defRPr>
                      </a:pPr>
                      <a:r>
                        <a:t>L20</a:t>
                      </a:r>
                    </a:p>
                  </a:txBody>
                  <a:tcPr>
                    <a:solidFill>
                      <a:srgbClr val="16223F"/>
                    </a:solidFill>
                  </a:tcPr>
                </a:tc>
                <a:tc>
                  <a:txBody>
                    <a:bodyPr/>
                    <a:lstStyle/>
                    <a:p>
                      <a:pPr algn="ctr">
                        <a:defRPr sz="1000" b="0">
                          <a:solidFill>
                            <a:srgbClr val="EBF0F7"/>
                          </a:solidFill>
                          <a:latin typeface="Liberation Mono"/>
                        </a:defRPr>
                      </a:pPr>
                      <a:r>
                        <a:t>-71.0 dBm</a:t>
                      </a:r>
                    </a:p>
                  </a:txBody>
                  <a:tcPr>
                    <a:solidFill>
                      <a:srgbClr val="16223F"/>
                    </a:solidFill>
                  </a:tcPr>
                </a:tc>
                <a:tc>
                  <a:txBody>
                    <a:bodyPr/>
                    <a:lstStyle/>
                    <a:p>
                      <a:pPr algn="ctr">
                        <a:defRPr sz="1000" b="0">
                          <a:solidFill>
                            <a:srgbClr val="EBF0F7"/>
                          </a:solidFill>
                          <a:latin typeface="Liberation Mono"/>
                        </a:defRPr>
                      </a:pPr>
                      <a:r>
                        <a:t>-74.2 dBm</a:t>
                      </a:r>
                    </a:p>
                  </a:txBody>
                  <a:tcPr>
                    <a:solidFill>
                      <a:srgbClr val="16223F"/>
                    </a:solidFill>
                  </a:tcPr>
                </a:tc>
                <a:tc>
                  <a:txBody>
                    <a:bodyPr/>
                    <a:lstStyle/>
                    <a:p>
                      <a:pPr algn="ctr">
                        <a:defRPr sz="1000" b="0">
                          <a:solidFill>
                            <a:srgbClr val="EBF0F7"/>
                          </a:solidFill>
                          <a:latin typeface="Liberation Mono"/>
                        </a:defRPr>
                      </a:pPr>
                      <a:r>
                        <a:t>-73.8 dBm</a:t>
                      </a:r>
                    </a:p>
                  </a:txBody>
                  <a:tcPr>
                    <a:solidFill>
                      <a:srgbClr val="16223F"/>
                    </a:solidFill>
                  </a:tcPr>
                </a:tc>
                <a:tc>
                  <a:txBody>
                    <a:bodyPr/>
                    <a:lstStyle/>
                    <a:p>
                      <a:pPr algn="ctr">
                        <a:defRPr sz="1000" b="1">
                          <a:solidFill>
                            <a:srgbClr val="F43F5E"/>
                          </a:solidFill>
                          <a:latin typeface="Calibri"/>
                        </a:defRPr>
                      </a:pPr>
                      <a:r>
                        <a:t>Critical</a:t>
                      </a:r>
                    </a:p>
                  </a:txBody>
                  <a:tcPr>
                    <a:solidFill>
                      <a:srgbClr val="16223F"/>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5943600" y="4892040"/>
            <a:ext cx="5285232" cy="1188720"/>
          </a:xfrm>
          <a:prstGeom prst="rect">
            <a:avLst/>
          </a:prstGeom>
          <a:noFill/>
        </p:spPr>
        <p:txBody>
          <a:bodyPr wrap="square">
            <a:spAutoFit/>
          </a:bodyPr>
          <a:lstStyle/>
          <a:p>
            <a:pPr>
              <a:defRPr sz="1200" b="1">
                <a:solidFill>
                  <a:srgbClr val="FFFFFF"/>
                </a:solidFill>
                <a:latin typeface="Trebuchet MS"/>
              </a:defRPr>
            </a:pPr>
            <a:r>
              <a:t>Mathematical Properties Preserved:</a:t>
            </a:r>
          </a:p>
          <a:p>
            <a:pPr>
              <a:spcBef>
                <a:spcPts val="200"/>
              </a:spcBef>
              <a:defRPr sz="1050">
                <a:solidFill>
                  <a:srgbClr val="94A3B8"/>
                </a:solidFill>
                <a:latin typeface="Calibri"/>
              </a:defRPr>
            </a:pPr>
            <a:r>
              <a:t>• Structure: Clean algebraic representation suitable for matrix decomposition.</a:t>
            </a:r>
            <a:br/>
            <a:r>
              <a:t>• Traceability: All downstream outputs directly trace back to empirical RSSI.</a:t>
            </a:r>
            <a:br/>
            <a:r>
              <a:t>• Reusability: Feeds both spatial regression and temporal PCA simultaneously.</a:t>
            </a:r>
          </a:p>
        </p:txBody>
      </p:sp>
      <p:sp>
        <p:nvSpPr>
          <p:cNvPr id="11" name="Rectangle 10"/>
          <p:cNvSpPr/>
          <p:nvPr/>
        </p:nvSpPr>
        <p:spPr>
          <a:xfrm>
            <a:off x="731520" y="6400800"/>
            <a:ext cx="10728655" cy="12700"/>
          </a:xfrm>
          <a:prstGeom prst="rect">
            <a:avLst/>
          </a:prstGeom>
          <a:solidFill>
            <a:srgbClr val="2A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6446520"/>
            <a:ext cx="6400800" cy="274320"/>
          </a:xfrm>
          <a:prstGeom prst="rect">
            <a:avLst/>
          </a:prstGeom>
          <a:noFill/>
        </p:spPr>
        <p:txBody>
          <a:bodyPr wrap="none" lIns="0" tIns="0" rIns="0" bIns="0">
            <a:spAutoFit/>
          </a:bodyPr>
          <a:lstStyle/>
          <a:p>
            <a:pPr>
              <a:defRPr sz="950">
                <a:solidFill>
                  <a:srgbClr val="94A3B8"/>
                </a:solidFill>
                <a:latin typeface="Calibri"/>
              </a:defRPr>
            </a:pPr>
            <a:r>
              <a:t>UE25MA242A · MFAD 2026  |  Wi-FiScope: Campus Wi-Fi Signal Intelligence via Linear Algebra</a:t>
            </a:r>
          </a:p>
        </p:txBody>
      </p:sp>
      <p:sp>
        <p:nvSpPr>
          <p:cNvPr id="13" name="TextBox 12"/>
          <p:cNvSpPr txBox="1"/>
          <p:nvPr/>
        </p:nvSpPr>
        <p:spPr>
          <a:xfrm>
            <a:off x="9631375" y="6446520"/>
            <a:ext cx="1828800" cy="274320"/>
          </a:xfrm>
          <a:prstGeom prst="rect">
            <a:avLst/>
          </a:prstGeom>
          <a:noFill/>
        </p:spPr>
        <p:txBody>
          <a:bodyPr wrap="none" lIns="0" tIns="0" rIns="0" bIns="0">
            <a:spAutoFit/>
          </a:bodyPr>
          <a:lstStyle/>
          <a:p>
            <a:pPr algn="r">
              <a:defRPr sz="950" b="1">
                <a:solidFill>
                  <a:srgbClr val="00D2FF"/>
                </a:solidFill>
                <a:latin typeface="Liberation Mono"/>
              </a:defRPr>
            </a:pPr>
            <a:r>
              <a:t>03 / 11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2926080" cy="256032"/>
          </a:xfrm>
          <a:prstGeom prst="roundRect">
            <a:avLst/>
          </a:prstGeom>
          <a:solidFill>
            <a:srgbClr val="1C2B50"/>
          </a:solidFill>
          <a:ln w="12700">
            <a:solidFill>
              <a:srgbClr val="3B5288"/>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00D2FF"/>
                </a:solidFill>
                <a:latin typeface="Trebuchet MS"/>
              </a:defRPr>
            </a:pPr>
            <a:r>
              <a:t>03 · VECTOR PROCESSING</a:t>
            </a:r>
          </a:p>
        </p:txBody>
      </p:sp>
      <p:sp>
        <p:nvSpPr>
          <p:cNvPr id="3" name="TextBox 2"/>
          <p:cNvSpPr txBox="1"/>
          <p:nvPr/>
        </p:nvSpPr>
        <p:spPr>
          <a:xfrm>
            <a:off x="731520" y="621792"/>
            <a:ext cx="10728655" cy="694944"/>
          </a:xfrm>
          <a:prstGeom prst="rect">
            <a:avLst/>
          </a:prstGeom>
          <a:noFill/>
        </p:spPr>
        <p:txBody>
          <a:bodyPr wrap="square" lIns="0" tIns="0" rIns="0" bIns="0">
            <a:spAutoFit/>
          </a:bodyPr>
          <a:lstStyle/>
          <a:p>
            <a:pPr>
              <a:defRPr sz="2050" b="1">
                <a:solidFill>
                  <a:srgbClr val="FFFFFF"/>
                </a:solidFill>
                <a:latin typeface="Trebuchet MS"/>
              </a:defRPr>
            </a:pPr>
            <a:r>
              <a:t>Mean-Centring and L2 Normalisation Isolate Pure Diurnal Signal Dynamics</a:t>
            </a:r>
          </a:p>
        </p:txBody>
      </p:sp>
      <p:sp>
        <p:nvSpPr>
          <p:cNvPr id="4" name="TextBox 3"/>
          <p:cNvSpPr txBox="1"/>
          <p:nvPr/>
        </p:nvSpPr>
        <p:spPr>
          <a:xfrm>
            <a:off x="731520" y="1371600"/>
            <a:ext cx="10728655" cy="320040"/>
          </a:xfrm>
          <a:prstGeom prst="rect">
            <a:avLst/>
          </a:prstGeom>
          <a:noFill/>
        </p:spPr>
        <p:txBody>
          <a:bodyPr wrap="square" lIns="0" tIns="0" rIns="0" bIns="0">
            <a:spAutoFit/>
          </a:bodyPr>
          <a:lstStyle/>
          <a:p>
            <a:pPr>
              <a:defRPr sz="1150">
                <a:solidFill>
                  <a:srgbClr val="94A3B8"/>
                </a:solidFill>
                <a:latin typeface="Calibri"/>
              </a:defRPr>
            </a:pPr>
            <a:r>
              <a:t>Transforming raw decibel levels into normalised unit vectors eliminates baseline bias for equitable pattern comparison.</a:t>
            </a:r>
          </a:p>
        </p:txBody>
      </p:sp>
      <p:sp>
        <p:nvSpPr>
          <p:cNvPr id="5" name="Rounded Rectangle 4"/>
          <p:cNvSpPr/>
          <p:nvPr/>
        </p:nvSpPr>
        <p:spPr>
          <a:xfrm>
            <a:off x="731520" y="1810512"/>
            <a:ext cx="3364992" cy="3246120"/>
          </a:xfrm>
          <a:prstGeom prst="roundRect">
            <a:avLst/>
          </a:prstGeom>
          <a:solidFill>
            <a:srgbClr val="16223F"/>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993392"/>
            <a:ext cx="2907792" cy="2880360"/>
          </a:xfrm>
          <a:prstGeom prst="rect">
            <a:avLst/>
          </a:prstGeom>
          <a:noFill/>
        </p:spPr>
        <p:txBody>
          <a:bodyPr wrap="square">
            <a:spAutoFit/>
          </a:bodyPr>
          <a:lstStyle/>
          <a:p>
            <a:pPr>
              <a:defRPr sz="1000" b="1">
                <a:solidFill>
                  <a:srgbClr val="00D2FF"/>
                </a:solidFill>
                <a:latin typeface="Liberation Mono"/>
              </a:defRPr>
            </a:pPr>
            <a:r>
              <a:t>PHASE 01</a:t>
            </a:r>
          </a:p>
          <a:p>
            <a:pPr>
              <a:spcBef>
                <a:spcPts val="400"/>
              </a:spcBef>
              <a:defRPr sz="1600" b="1">
                <a:solidFill>
                  <a:srgbClr val="FFFFFF"/>
                </a:solidFill>
                <a:latin typeface="Trebuchet MS"/>
              </a:defRPr>
            </a:pPr>
            <a:r>
              <a:t>Vector Extraction</a:t>
            </a:r>
          </a:p>
          <a:p>
            <a:pPr>
              <a:spcBef>
                <a:spcPts val="800"/>
              </a:spcBef>
              <a:defRPr sz="1100">
                <a:solidFill>
                  <a:srgbClr val="EBF0F7"/>
                </a:solidFill>
                <a:latin typeface="Liberation Mono"/>
              </a:defRPr>
            </a:pPr>
            <a:r>
              <a:t>Each row i of matrix A is extracted as a 3D signal vector:</a:t>
            </a:r>
            <a:br/>
            <a:br/>
            <a:r>
              <a:t>x = [RSSI_morn, RSSI_aft, RSSI_eve] ∈ ℝ³</a:t>
            </a:r>
            <a:br/>
            <a:br/>
            <a:r>
              <a:t>Example (L14):</a:t>
            </a:r>
            <a:br/>
            <a:r>
              <a:t>x = [−65.2, −68.7, −68.3] dBm</a:t>
            </a:r>
          </a:p>
          <a:p>
            <a:pPr>
              <a:spcBef>
                <a:spcPts val="1000"/>
              </a:spcBef>
              <a:defRPr sz="1050" b="1">
                <a:solidFill>
                  <a:srgbClr val="00D2FF"/>
                </a:solidFill>
                <a:latin typeface="Calibri"/>
              </a:defRPr>
            </a:pPr>
            <a:r>
              <a:t>Key Outcome: Preserves raw temporal trajectory</a:t>
            </a:r>
          </a:p>
        </p:txBody>
      </p:sp>
      <p:sp>
        <p:nvSpPr>
          <p:cNvPr id="7" name="Rounded Rectangle 6"/>
          <p:cNvSpPr/>
          <p:nvPr/>
        </p:nvSpPr>
        <p:spPr>
          <a:xfrm>
            <a:off x="4407408" y="1810512"/>
            <a:ext cx="3364992" cy="3246120"/>
          </a:xfrm>
          <a:prstGeom prst="roundRect">
            <a:avLst/>
          </a:prstGeom>
          <a:solidFill>
            <a:srgbClr val="16223F"/>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36008" y="1993392"/>
            <a:ext cx="2907792" cy="2880360"/>
          </a:xfrm>
          <a:prstGeom prst="rect">
            <a:avLst/>
          </a:prstGeom>
          <a:noFill/>
        </p:spPr>
        <p:txBody>
          <a:bodyPr wrap="square">
            <a:spAutoFit/>
          </a:bodyPr>
          <a:lstStyle/>
          <a:p>
            <a:pPr>
              <a:defRPr sz="1000" b="1">
                <a:solidFill>
                  <a:srgbClr val="FBBF24"/>
                </a:solidFill>
                <a:latin typeface="Liberation Mono"/>
              </a:defRPr>
            </a:pPr>
            <a:r>
              <a:t>PHASE 02</a:t>
            </a:r>
          </a:p>
          <a:p>
            <a:pPr>
              <a:spcBef>
                <a:spcPts val="400"/>
              </a:spcBef>
              <a:defRPr sz="1600" b="1">
                <a:solidFill>
                  <a:srgbClr val="FFFFFF"/>
                </a:solidFill>
                <a:latin typeface="Trebuchet MS"/>
              </a:defRPr>
            </a:pPr>
            <a:r>
              <a:t>Mean-Centring</a:t>
            </a:r>
          </a:p>
          <a:p>
            <a:pPr>
              <a:spcBef>
                <a:spcPts val="800"/>
              </a:spcBef>
              <a:defRPr sz="1100">
                <a:solidFill>
                  <a:srgbClr val="EBF0F7"/>
                </a:solidFill>
                <a:latin typeface="Liberation Mono"/>
              </a:defRPr>
            </a:pPr>
            <a:r>
              <a:t>Subtract the location's average temporal power level:</a:t>
            </a:r>
            <a:br/>
            <a:br/>
            <a:r>
              <a:t>c = x − mean(x)</a:t>
            </a:r>
            <a:br/>
            <a:br/>
            <a:r>
              <a:t>Removes baseline power differences between locations closer or further from the AP.</a:t>
            </a:r>
          </a:p>
          <a:p>
            <a:pPr>
              <a:spcBef>
                <a:spcPts val="1000"/>
              </a:spcBef>
              <a:defRPr sz="1050" b="1">
                <a:solidFill>
                  <a:srgbClr val="FBBF24"/>
                </a:solidFill>
                <a:latin typeface="Calibri"/>
              </a:defRPr>
            </a:pPr>
            <a:r>
              <a:t>Key Outcome: Isolates diurnal variation from distance</a:t>
            </a:r>
          </a:p>
        </p:txBody>
      </p:sp>
      <p:sp>
        <p:nvSpPr>
          <p:cNvPr id="9" name="Rounded Rectangle 8"/>
          <p:cNvSpPr/>
          <p:nvPr/>
        </p:nvSpPr>
        <p:spPr>
          <a:xfrm>
            <a:off x="8083296" y="1810512"/>
            <a:ext cx="3364992" cy="3246120"/>
          </a:xfrm>
          <a:prstGeom prst="roundRect">
            <a:avLst/>
          </a:prstGeom>
          <a:solidFill>
            <a:srgbClr val="16223F"/>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11896" y="1993392"/>
            <a:ext cx="2907792" cy="2880360"/>
          </a:xfrm>
          <a:prstGeom prst="rect">
            <a:avLst/>
          </a:prstGeom>
          <a:noFill/>
        </p:spPr>
        <p:txBody>
          <a:bodyPr wrap="square">
            <a:spAutoFit/>
          </a:bodyPr>
          <a:lstStyle/>
          <a:p>
            <a:pPr>
              <a:defRPr sz="1000" b="1">
                <a:solidFill>
                  <a:srgbClr val="10B981"/>
                </a:solidFill>
                <a:latin typeface="Liberation Mono"/>
              </a:defRPr>
            </a:pPr>
            <a:r>
              <a:t>PHASE 03</a:t>
            </a:r>
          </a:p>
          <a:p>
            <a:pPr>
              <a:spcBef>
                <a:spcPts val="400"/>
              </a:spcBef>
              <a:defRPr sz="1600" b="1">
                <a:solidFill>
                  <a:srgbClr val="FFFFFF"/>
                </a:solidFill>
                <a:latin typeface="Trebuchet MS"/>
              </a:defRPr>
            </a:pPr>
            <a:r>
              <a:t>L2 Normalisation</a:t>
            </a:r>
          </a:p>
          <a:p>
            <a:pPr>
              <a:spcBef>
                <a:spcPts val="800"/>
              </a:spcBef>
              <a:defRPr sz="1100">
                <a:solidFill>
                  <a:srgbClr val="EBF0F7"/>
                </a:solidFill>
                <a:latin typeface="Calibri"/>
              </a:defRPr>
            </a:pPr>
            <a:r>
              <a:t>Scale the centred vector onto the unit hypersphere:</a:t>
            </a:r>
            <a:br/>
            <a:br/>
            <a:r>
              <a:t>x̂ = c / ‖c‖₂</a:t>
            </a:r>
            <a:br/>
            <a:r>
              <a:t>where ‖c‖₂ = √(∑ cᵢ²)</a:t>
            </a:r>
            <a:br/>
            <a:br/>
            <a:r>
              <a:t>Guarantees all vectors have unit length: ‖x̂‖₂ = 1.</a:t>
            </a:r>
          </a:p>
          <a:p>
            <a:pPr>
              <a:spcBef>
                <a:spcPts val="1000"/>
              </a:spcBef>
              <a:defRPr sz="1050" b="1">
                <a:solidFill>
                  <a:srgbClr val="10B981"/>
                </a:solidFill>
                <a:latin typeface="Calibri"/>
              </a:defRPr>
            </a:pPr>
            <a:r>
              <a:t>Key Outcome: Maps all dynamics to unit direction</a:t>
            </a:r>
          </a:p>
        </p:txBody>
      </p:sp>
      <p:sp>
        <p:nvSpPr>
          <p:cNvPr id="11" name="Rounded Rectangle 10"/>
          <p:cNvSpPr/>
          <p:nvPr/>
        </p:nvSpPr>
        <p:spPr>
          <a:xfrm>
            <a:off x="731520" y="5166360"/>
            <a:ext cx="10728655" cy="1051560"/>
          </a:xfrm>
          <a:prstGeom prst="roundRect">
            <a:avLst/>
          </a:prstGeom>
          <a:solidFill>
            <a:srgbClr val="1C2B50"/>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5257800"/>
            <a:ext cx="10271455" cy="868680"/>
          </a:xfrm>
          <a:prstGeom prst="rect">
            <a:avLst/>
          </a:prstGeom>
          <a:noFill/>
        </p:spPr>
        <p:txBody>
          <a:bodyPr wrap="square">
            <a:spAutoFit/>
          </a:bodyPr>
          <a:lstStyle/>
          <a:p>
            <a:pPr>
              <a:defRPr sz="1200" b="1">
                <a:solidFill>
                  <a:srgbClr val="00D2FF"/>
                </a:solidFill>
                <a:latin typeface="Trebuchet MS"/>
              </a:defRPr>
            </a:pPr>
            <a:r>
              <a:t>WHY IS NORMALISATION CRITICAL FOR SIGNAL INTELLIGENCE?</a:t>
            </a:r>
          </a:p>
          <a:p>
            <a:pPr>
              <a:spcBef>
                <a:spcPts val="200"/>
              </a:spcBef>
              <a:defRPr sz="1100">
                <a:solidFill>
                  <a:srgbClr val="EBF0F7"/>
                </a:solidFill>
                <a:latin typeface="Calibri"/>
              </a:defRPr>
            </a:pPr>
            <a:r>
              <a:t>A node near an AP (-48 dBm) and a node in a far corner (-72 dBm) might experience identical temporal drops during peak afternoon class hours. Without mean-centring and L2 scaling, raw Euclidean distance would wrongly conclude they are unrelated. Normalisation ensures we compare temporal behavior curves, not absolute physical proximity.</a:t>
            </a:r>
          </a:p>
        </p:txBody>
      </p:sp>
      <p:sp>
        <p:nvSpPr>
          <p:cNvPr id="13" name="Rectangle 12"/>
          <p:cNvSpPr/>
          <p:nvPr/>
        </p:nvSpPr>
        <p:spPr>
          <a:xfrm>
            <a:off x="731520" y="6400800"/>
            <a:ext cx="10728655" cy="12700"/>
          </a:xfrm>
          <a:prstGeom prst="rect">
            <a:avLst/>
          </a:prstGeom>
          <a:solidFill>
            <a:srgbClr val="2A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6446520"/>
            <a:ext cx="6400800" cy="274320"/>
          </a:xfrm>
          <a:prstGeom prst="rect">
            <a:avLst/>
          </a:prstGeom>
          <a:noFill/>
        </p:spPr>
        <p:txBody>
          <a:bodyPr wrap="none" lIns="0" tIns="0" rIns="0" bIns="0">
            <a:spAutoFit/>
          </a:bodyPr>
          <a:lstStyle/>
          <a:p>
            <a:pPr>
              <a:defRPr sz="950">
                <a:solidFill>
                  <a:srgbClr val="94A3B8"/>
                </a:solidFill>
                <a:latin typeface="Calibri"/>
              </a:defRPr>
            </a:pPr>
            <a:r>
              <a:t>UE25MA242A · MFAD 2026  |  Wi-FiScope: Campus Wi-Fi Signal Intelligence via Linear Algebra</a:t>
            </a:r>
          </a:p>
        </p:txBody>
      </p:sp>
      <p:sp>
        <p:nvSpPr>
          <p:cNvPr id="15" name="TextBox 14"/>
          <p:cNvSpPr txBox="1"/>
          <p:nvPr/>
        </p:nvSpPr>
        <p:spPr>
          <a:xfrm>
            <a:off x="9631375" y="6446520"/>
            <a:ext cx="1828800" cy="274320"/>
          </a:xfrm>
          <a:prstGeom prst="rect">
            <a:avLst/>
          </a:prstGeom>
          <a:noFill/>
        </p:spPr>
        <p:txBody>
          <a:bodyPr wrap="none" lIns="0" tIns="0" rIns="0" bIns="0">
            <a:spAutoFit/>
          </a:bodyPr>
          <a:lstStyle/>
          <a:p>
            <a:pPr algn="r">
              <a:defRPr sz="950" b="1">
                <a:solidFill>
                  <a:srgbClr val="00D2FF"/>
                </a:solidFill>
                <a:latin typeface="Liberation Mono"/>
              </a:defRPr>
            </a:pPr>
            <a:r>
              <a:t>04 / 11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2926080" cy="256032"/>
          </a:xfrm>
          <a:prstGeom prst="roundRect">
            <a:avLst/>
          </a:prstGeom>
          <a:solidFill>
            <a:srgbClr val="1C2B50"/>
          </a:solidFill>
          <a:ln w="12700">
            <a:solidFill>
              <a:srgbClr val="3B5288"/>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00D2FF"/>
                </a:solidFill>
                <a:latin typeface="Trebuchet MS"/>
              </a:defRPr>
            </a:pPr>
            <a:r>
              <a:t>04 · VECTOR GEOMETRY</a:t>
            </a:r>
          </a:p>
        </p:txBody>
      </p:sp>
      <p:sp>
        <p:nvSpPr>
          <p:cNvPr id="3" name="TextBox 2"/>
          <p:cNvSpPr txBox="1"/>
          <p:nvPr/>
        </p:nvSpPr>
        <p:spPr>
          <a:xfrm>
            <a:off x="731520" y="621792"/>
            <a:ext cx="10728655" cy="694944"/>
          </a:xfrm>
          <a:prstGeom prst="rect">
            <a:avLst/>
          </a:prstGeom>
          <a:noFill/>
        </p:spPr>
        <p:txBody>
          <a:bodyPr wrap="square" lIns="0" tIns="0" rIns="0" bIns="0">
            <a:spAutoFit/>
          </a:bodyPr>
          <a:lstStyle/>
          <a:p>
            <a:pPr>
              <a:defRPr sz="2050" b="1">
                <a:solidFill>
                  <a:srgbClr val="FFFFFF"/>
                </a:solidFill>
                <a:latin typeface="Trebuchet MS"/>
              </a:defRPr>
            </a:pPr>
            <a:r>
              <a:t>Cosine Similarity and Norm Distance Reveal Temporal Alignment Between Survey Nodes</a:t>
            </a:r>
          </a:p>
        </p:txBody>
      </p:sp>
      <p:sp>
        <p:nvSpPr>
          <p:cNvPr id="4" name="TextBox 3"/>
          <p:cNvSpPr txBox="1"/>
          <p:nvPr/>
        </p:nvSpPr>
        <p:spPr>
          <a:xfrm>
            <a:off x="731520" y="1371600"/>
            <a:ext cx="10728655" cy="320040"/>
          </a:xfrm>
          <a:prstGeom prst="rect">
            <a:avLst/>
          </a:prstGeom>
          <a:noFill/>
        </p:spPr>
        <p:txBody>
          <a:bodyPr wrap="square" lIns="0" tIns="0" rIns="0" bIns="0">
            <a:spAutoFit/>
          </a:bodyPr>
          <a:lstStyle/>
          <a:p>
            <a:pPr>
              <a:defRPr sz="1150">
                <a:solidFill>
                  <a:srgbClr val="94A3B8"/>
                </a:solidFill>
                <a:latin typeface="Calibri"/>
              </a:defRPr>
            </a:pPr>
            <a:r>
              <a:t>Geometric angles between normalised vectors quantify shared environmental behaviors regardless of distance.</a:t>
            </a:r>
          </a:p>
        </p:txBody>
      </p:sp>
      <p:sp>
        <p:nvSpPr>
          <p:cNvPr id="5" name="Rounded Rectangle 4"/>
          <p:cNvSpPr/>
          <p:nvPr/>
        </p:nvSpPr>
        <p:spPr>
          <a:xfrm>
            <a:off x="731520" y="1810512"/>
            <a:ext cx="5212080" cy="4407408"/>
          </a:xfrm>
          <a:prstGeom prst="roundRect">
            <a:avLst/>
          </a:prstGeom>
          <a:solidFill>
            <a:srgbClr val="16223F"/>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965960"/>
            <a:ext cx="4754880" cy="4023360"/>
          </a:xfrm>
          <a:prstGeom prst="rect">
            <a:avLst/>
          </a:prstGeom>
          <a:noFill/>
        </p:spPr>
        <p:txBody>
          <a:bodyPr wrap="square">
            <a:spAutoFit/>
          </a:bodyPr>
          <a:lstStyle/>
          <a:p>
            <a:pPr>
              <a:defRPr sz="1400" b="1">
                <a:solidFill>
                  <a:srgbClr val="00D2FF"/>
                </a:solidFill>
                <a:latin typeface="Trebuchet MS"/>
              </a:defRPr>
            </a:pPr>
            <a:r>
              <a:t>CORE GEOMETRIC RELATIONS</a:t>
            </a:r>
          </a:p>
          <a:p>
            <a:pPr>
              <a:spcBef>
                <a:spcPts val="600"/>
              </a:spcBef>
              <a:defRPr sz="1200" b="1">
                <a:solidFill>
                  <a:srgbClr val="FFFFFF"/>
                </a:solidFill>
                <a:latin typeface="Liberation Mono"/>
              </a:defRPr>
            </a:pPr>
            <a:r>
              <a:t>Cosine Similarity Formula:</a:t>
            </a:r>
            <a:br/>
            <a:r>
              <a:t>cos(θ) = (u · v) / (‖u‖₂ ‖v‖₂)</a:t>
            </a:r>
          </a:p>
          <a:p>
            <a:pPr>
              <a:spcBef>
                <a:spcPts val="400"/>
              </a:spcBef>
              <a:defRPr sz="1100">
                <a:solidFill>
                  <a:srgbClr val="10B981"/>
                </a:solidFill>
                <a:latin typeface="Liberation Mono"/>
              </a:defRPr>
            </a:pPr>
            <a:r>
              <a:t>For unit-normalised vectors (‖û‖₂ = ‖v̂‖₂ = 1), this reduces directly to the simple inner product:</a:t>
            </a:r>
            <a:br/>
            <a:r>
              <a:t>cos(θ) = û · v̂</a:t>
            </a:r>
          </a:p>
          <a:p>
            <a:pPr>
              <a:spcBef>
                <a:spcPts val="800"/>
              </a:spcBef>
              <a:defRPr sz="1100">
                <a:solidFill>
                  <a:srgbClr val="FBBF24"/>
                </a:solidFill>
                <a:latin typeface="Liberation Mono"/>
              </a:defRPr>
            </a:pPr>
            <a:r>
              <a:t>Euclidean Norm Distance:</a:t>
            </a:r>
            <a:br/>
            <a:r>
              <a:t>d(û, v̂) = ‖û − v̂‖₂ = √(2 − 2 cos(θ))</a:t>
            </a:r>
          </a:p>
          <a:p>
            <a:pPr>
              <a:spcBef>
                <a:spcPts val="1200"/>
              </a:spcBef>
              <a:defRPr sz="1300" b="1">
                <a:solidFill>
                  <a:srgbClr val="FFFFFF"/>
                </a:solidFill>
                <a:latin typeface="Trebuchet MS"/>
              </a:defRPr>
            </a:pPr>
            <a:r>
              <a:t>Physical Interpretation:</a:t>
            </a:r>
          </a:p>
          <a:p>
            <a:pPr>
              <a:spcBef>
                <a:spcPts val="300"/>
              </a:spcBef>
              <a:defRPr sz="1100">
                <a:solidFill>
                  <a:srgbClr val="94A3B8"/>
                </a:solidFill>
                <a:latin typeface="Calibri"/>
              </a:defRPr>
            </a:pPr>
            <a:r>
              <a:t>• cos(θ) ≈ 1.000: Perfectly in-phase diurnal variations (identical response to interference).</a:t>
            </a:r>
            <a:br/>
            <a:r>
              <a:t>• cos(θ) ≈ 0.000: Orthogonal, independent temporal variations.</a:t>
            </a:r>
            <a:br/>
            <a:r>
              <a:t>• Norm Distance ≈ 0: Geometric coincidence on the unit sphere.</a:t>
            </a:r>
          </a:p>
        </p:txBody>
      </p:sp>
      <p:sp>
        <p:nvSpPr>
          <p:cNvPr id="7" name="Rounded Rectangle 6"/>
          <p:cNvSpPr/>
          <p:nvPr/>
        </p:nvSpPr>
        <p:spPr>
          <a:xfrm>
            <a:off x="6172200" y="1810512"/>
            <a:ext cx="5285232" cy="4407408"/>
          </a:xfrm>
          <a:prstGeom prst="roundRect">
            <a:avLst/>
          </a:prstGeom>
          <a:solidFill>
            <a:srgbClr val="16223F"/>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965960"/>
            <a:ext cx="4828032" cy="4023360"/>
          </a:xfrm>
          <a:prstGeom prst="rect">
            <a:avLst/>
          </a:prstGeom>
          <a:noFill/>
        </p:spPr>
        <p:txBody>
          <a:bodyPr wrap="square">
            <a:spAutoFit/>
          </a:bodyPr>
          <a:lstStyle/>
          <a:p>
            <a:pPr>
              <a:defRPr sz="1400" b="1">
                <a:solidFill>
                  <a:srgbClr val="FBBF24"/>
                </a:solidFill>
                <a:latin typeface="Trebuchet MS"/>
              </a:defRPr>
            </a:pPr>
            <a:r>
              <a:t>DEVELOPMENT BENCHMARK: L13 vs L18</a:t>
            </a:r>
          </a:p>
        </p:txBody>
      </p:sp>
      <p:sp>
        <p:nvSpPr>
          <p:cNvPr id="9" name="Rounded Rectangle 8"/>
          <p:cNvSpPr/>
          <p:nvPr/>
        </p:nvSpPr>
        <p:spPr>
          <a:xfrm>
            <a:off x="6400800" y="2514600"/>
            <a:ext cx="4828032" cy="1280160"/>
          </a:xfrm>
          <a:prstGeom prst="roundRect">
            <a:avLst/>
          </a:prstGeom>
          <a:solidFill>
            <a:srgbClr val="1C2B50"/>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2606040"/>
            <a:ext cx="4645152" cy="1097280"/>
          </a:xfrm>
          <a:prstGeom prst="rect">
            <a:avLst/>
          </a:prstGeom>
          <a:noFill/>
        </p:spPr>
        <p:txBody>
          <a:bodyPr wrap="square">
            <a:spAutoFit/>
          </a:bodyPr>
          <a:lstStyle/>
          <a:p>
            <a:pPr algn="ctr">
              <a:defRPr sz="2800" b="1">
                <a:solidFill>
                  <a:srgbClr val="00D2FF"/>
                </a:solidFill>
                <a:latin typeface="Trebuchet MS"/>
              </a:defRPr>
            </a:pPr>
            <a:r>
              <a:t>cos(θ) ≈ 1.000</a:t>
            </a:r>
          </a:p>
          <a:p>
            <a:pPr algn="ctr">
              <a:defRPr sz="1100" b="1">
                <a:solidFill>
                  <a:srgbClr val="10B981"/>
                </a:solidFill>
                <a:latin typeface="Liberation Mono"/>
              </a:defRPr>
            </a:pPr>
            <a:r>
              <a:t>Norm Distance ≈ 0.004  ·  Near-Perfect Alignment</a:t>
            </a:r>
          </a:p>
        </p:txBody>
      </p:sp>
      <p:sp>
        <p:nvSpPr>
          <p:cNvPr id="11" name="TextBox 10"/>
          <p:cNvSpPr txBox="1"/>
          <p:nvPr/>
        </p:nvSpPr>
        <p:spPr>
          <a:xfrm>
            <a:off x="6400800" y="3977639"/>
            <a:ext cx="4828032" cy="2103120"/>
          </a:xfrm>
          <a:prstGeom prst="rect">
            <a:avLst/>
          </a:prstGeom>
          <a:noFill/>
        </p:spPr>
        <p:txBody>
          <a:bodyPr wrap="square">
            <a:spAutoFit/>
          </a:bodyPr>
          <a:lstStyle/>
          <a:p>
            <a:pPr>
              <a:defRPr sz="1300" b="1">
                <a:solidFill>
                  <a:srgbClr val="FFFFFF"/>
                </a:solidFill>
                <a:latin typeface="Trebuchet MS"/>
              </a:defRPr>
            </a:pPr>
            <a:r>
              <a:t>Crucial Engineering Takeaway:</a:t>
            </a:r>
          </a:p>
          <a:p>
            <a:pPr>
              <a:spcBef>
                <a:spcPts val="300"/>
              </a:spcBef>
              <a:defRPr sz="1100">
                <a:solidFill>
                  <a:srgbClr val="EBF0F7"/>
                </a:solidFill>
                <a:latin typeface="Calibri"/>
              </a:defRPr>
            </a:pPr>
            <a:r>
              <a:t>Similarity describes behavior across time, NOT physical distance between coordinates.</a:t>
            </a:r>
            <a:br/>
            <a:br/>
            <a:r>
              <a:t>Although L13 and L18 sit in different grid rows (Row 3 vs Row 4), they experience synchronized attenuation shifts. This indicates a shared structural factor (e.g. alignment along a common hallway corridor or simultaneous occupancy spikes).</a:t>
            </a:r>
          </a:p>
        </p:txBody>
      </p:sp>
      <p:sp>
        <p:nvSpPr>
          <p:cNvPr id="12" name="Rectangle 11"/>
          <p:cNvSpPr/>
          <p:nvPr/>
        </p:nvSpPr>
        <p:spPr>
          <a:xfrm>
            <a:off x="731520" y="6400800"/>
            <a:ext cx="10728655" cy="12700"/>
          </a:xfrm>
          <a:prstGeom prst="rect">
            <a:avLst/>
          </a:prstGeom>
          <a:solidFill>
            <a:srgbClr val="2A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6446520"/>
            <a:ext cx="6400800" cy="274320"/>
          </a:xfrm>
          <a:prstGeom prst="rect">
            <a:avLst/>
          </a:prstGeom>
          <a:noFill/>
        </p:spPr>
        <p:txBody>
          <a:bodyPr wrap="none" lIns="0" tIns="0" rIns="0" bIns="0">
            <a:spAutoFit/>
          </a:bodyPr>
          <a:lstStyle/>
          <a:p>
            <a:pPr>
              <a:defRPr sz="950">
                <a:solidFill>
                  <a:srgbClr val="94A3B8"/>
                </a:solidFill>
                <a:latin typeface="Calibri"/>
              </a:defRPr>
            </a:pPr>
            <a:r>
              <a:t>UE25MA242A · MFAD 2026  |  Wi-FiScope: Campus Wi-Fi Signal Intelligence via Linear Algebra</a:t>
            </a:r>
          </a:p>
        </p:txBody>
      </p:sp>
      <p:sp>
        <p:nvSpPr>
          <p:cNvPr id="14" name="TextBox 13"/>
          <p:cNvSpPr txBox="1"/>
          <p:nvPr/>
        </p:nvSpPr>
        <p:spPr>
          <a:xfrm>
            <a:off x="9631375" y="6446520"/>
            <a:ext cx="1828800" cy="274320"/>
          </a:xfrm>
          <a:prstGeom prst="rect">
            <a:avLst/>
          </a:prstGeom>
          <a:noFill/>
        </p:spPr>
        <p:txBody>
          <a:bodyPr wrap="none" lIns="0" tIns="0" rIns="0" bIns="0">
            <a:spAutoFit/>
          </a:bodyPr>
          <a:lstStyle/>
          <a:p>
            <a:pPr algn="r">
              <a:defRPr sz="950" b="1">
                <a:solidFill>
                  <a:srgbClr val="00D2FF"/>
                </a:solidFill>
                <a:latin typeface="Liberation Mono"/>
              </a:defRPr>
            </a:pPr>
            <a:r>
              <a:t>05 / 11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2926080" cy="256032"/>
          </a:xfrm>
          <a:prstGeom prst="roundRect">
            <a:avLst/>
          </a:prstGeom>
          <a:solidFill>
            <a:srgbClr val="1C2B50"/>
          </a:solidFill>
          <a:ln w="12700">
            <a:solidFill>
              <a:srgbClr val="3B5288"/>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00D2FF"/>
                </a:solidFill>
                <a:latin typeface="Trebuchet MS"/>
              </a:defRPr>
            </a:pPr>
            <a:r>
              <a:t>05 · SPATIAL PREDICTION</a:t>
            </a:r>
          </a:p>
        </p:txBody>
      </p:sp>
      <p:sp>
        <p:nvSpPr>
          <p:cNvPr id="3" name="TextBox 2"/>
          <p:cNvSpPr txBox="1"/>
          <p:nvPr/>
        </p:nvSpPr>
        <p:spPr>
          <a:xfrm>
            <a:off x="731520" y="621792"/>
            <a:ext cx="10728655" cy="694944"/>
          </a:xfrm>
          <a:prstGeom prst="rect">
            <a:avLst/>
          </a:prstGeom>
          <a:noFill/>
        </p:spPr>
        <p:txBody>
          <a:bodyPr wrap="square" lIns="0" tIns="0" rIns="0" bIns="0">
            <a:spAutoFit/>
          </a:bodyPr>
          <a:lstStyle/>
          <a:p>
            <a:pPr>
              <a:defRPr sz="2050" b="1">
                <a:solidFill>
                  <a:srgbClr val="FFFFFF"/>
                </a:solidFill>
                <a:latin typeface="Trebuchet MS"/>
              </a:defRPr>
            </a:pPr>
            <a:r>
              <a:t>First-Order Planar Regression Estimates Signal at Any Interior Coordinate</a:t>
            </a:r>
          </a:p>
        </p:txBody>
      </p:sp>
      <p:sp>
        <p:nvSpPr>
          <p:cNvPr id="4" name="TextBox 3"/>
          <p:cNvSpPr txBox="1"/>
          <p:nvPr/>
        </p:nvSpPr>
        <p:spPr>
          <a:xfrm>
            <a:off x="731520" y="1371600"/>
            <a:ext cx="10728655" cy="320040"/>
          </a:xfrm>
          <a:prstGeom prst="rect">
            <a:avLst/>
          </a:prstGeom>
          <a:noFill/>
        </p:spPr>
        <p:txBody>
          <a:bodyPr wrap="square" lIns="0" tIns="0" rIns="0" bIns="0">
            <a:spAutoFit/>
          </a:bodyPr>
          <a:lstStyle/>
          <a:p>
            <a:pPr>
              <a:defRPr sz="1150">
                <a:solidFill>
                  <a:srgbClr val="94A3B8"/>
                </a:solidFill>
                <a:latin typeface="Calibri"/>
              </a:defRPr>
            </a:pPr>
            <a:r>
              <a:t>Least-squares optimization fits a continuous spatial plane to discrete measurements without requiring an RF ray-tracer.</a:t>
            </a:r>
          </a:p>
        </p:txBody>
      </p:sp>
      <p:sp>
        <p:nvSpPr>
          <p:cNvPr id="5" name="Rounded Rectangle 4"/>
          <p:cNvSpPr/>
          <p:nvPr/>
        </p:nvSpPr>
        <p:spPr>
          <a:xfrm>
            <a:off x="731520" y="1810512"/>
            <a:ext cx="5212080" cy="4407408"/>
          </a:xfrm>
          <a:prstGeom prst="roundRect">
            <a:avLst/>
          </a:prstGeom>
          <a:solidFill>
            <a:srgbClr val="16223F"/>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965960"/>
            <a:ext cx="4754880" cy="4023360"/>
          </a:xfrm>
          <a:prstGeom prst="rect">
            <a:avLst/>
          </a:prstGeom>
          <a:noFill/>
        </p:spPr>
        <p:txBody>
          <a:bodyPr wrap="square">
            <a:spAutoFit/>
          </a:bodyPr>
          <a:lstStyle/>
          <a:p>
            <a:pPr>
              <a:defRPr sz="1400" b="1">
                <a:solidFill>
                  <a:srgbClr val="00D2FF"/>
                </a:solidFill>
                <a:latin typeface="Trebuchet MS"/>
              </a:defRPr>
            </a:pPr>
            <a:r>
              <a:t>FIRST-ORDER PLANAR MODEL</a:t>
            </a:r>
          </a:p>
          <a:p>
            <a:pPr>
              <a:spcBef>
                <a:spcPts val="600"/>
              </a:spcBef>
              <a:defRPr sz="1500" b="1">
                <a:solidFill>
                  <a:srgbClr val="10B981"/>
                </a:solidFill>
                <a:latin typeface="Liberation Mono"/>
              </a:defRPr>
            </a:pPr>
            <a:r>
              <a:t>Approximation Equation:</a:t>
            </a:r>
            <a:br/>
            <a:r>
              <a:t>RSSI ≈ β₀ + β₁x + β₂y</a:t>
            </a:r>
          </a:p>
          <a:p>
            <a:pPr>
              <a:spcBef>
                <a:spcPts val="800"/>
              </a:spcBef>
              <a:defRPr sz="1250" b="1">
                <a:solidFill>
                  <a:srgbClr val="FFFFFF"/>
                </a:solidFill>
                <a:latin typeface="Trebuchet MS"/>
              </a:defRPr>
            </a:pPr>
            <a:r>
              <a:t>Coefficient Interpretations:</a:t>
            </a:r>
          </a:p>
          <a:p>
            <a:pPr>
              <a:spcBef>
                <a:spcPts val="300"/>
              </a:spcBef>
              <a:defRPr sz="1100">
                <a:solidFill>
                  <a:srgbClr val="94A3B8"/>
                </a:solidFill>
                <a:latin typeface="Calibri"/>
              </a:defRPr>
            </a:pPr>
            <a:r>
              <a:t>• β₀ (Intercept): Baseline reference signal at origin (0, 0) in dBm.</a:t>
            </a:r>
            <a:br/>
            <a:r>
              <a:t>• β₁ (X-Gradient): Rate of signal change along campus X-axis (dBm/m).</a:t>
            </a:r>
            <a:br/>
            <a:r>
              <a:t>• β₂ (Y-Gradient): Rate of signal change along campus Y-axis (dBm/m).</a:t>
            </a:r>
          </a:p>
          <a:p>
            <a:pPr>
              <a:spcBef>
                <a:spcPts val="1000"/>
              </a:spcBef>
              <a:defRPr sz="1250" b="1">
                <a:solidFill>
                  <a:srgbClr val="FFFFFF"/>
                </a:solidFill>
                <a:latin typeface="Trebuchet MS"/>
              </a:defRPr>
            </a:pPr>
            <a:r>
              <a:t>Optimization Objective:</a:t>
            </a:r>
          </a:p>
          <a:p>
            <a:pPr>
              <a:spcBef>
                <a:spcPts val="300"/>
              </a:spcBef>
              <a:defRPr sz="1100" b="1">
                <a:solidFill>
                  <a:srgbClr val="FBBF24"/>
                </a:solidFill>
                <a:latin typeface="Liberation Mono"/>
              </a:defRPr>
            </a:pPr>
            <a:r>
              <a:t>Minimise Sum of Squared Residuals:</a:t>
            </a:r>
            <a:br/>
            <a:r>
              <a:t>min_β ∑ (RSSI_actual − (β₀ + β₁x + β₂y))²</a:t>
            </a:r>
            <a:br/>
            <a:br/>
            <a:r>
              <a:t>Closed-Form Matrix Solution:</a:t>
            </a:r>
            <a:br/>
            <a:r>
              <a:t>β = (XᵀX)⁻¹ Xᵀ y</a:t>
            </a:r>
          </a:p>
        </p:txBody>
      </p:sp>
      <p:sp>
        <p:nvSpPr>
          <p:cNvPr id="7" name="Rounded Rectangle 6"/>
          <p:cNvSpPr/>
          <p:nvPr/>
        </p:nvSpPr>
        <p:spPr>
          <a:xfrm>
            <a:off x="6172200" y="1810512"/>
            <a:ext cx="5285232" cy="4407408"/>
          </a:xfrm>
          <a:prstGeom prst="roundRect">
            <a:avLst/>
          </a:prstGeom>
          <a:solidFill>
            <a:srgbClr val="16223F"/>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355080" y="1965960"/>
            <a:ext cx="4919472" cy="1234440"/>
          </a:xfrm>
          <a:prstGeom prst="roundRect">
            <a:avLst/>
          </a:prstGeom>
          <a:solidFill>
            <a:srgbClr val="1C2B50"/>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37960" y="2075688"/>
            <a:ext cx="4553712" cy="1014984"/>
          </a:xfrm>
          <a:prstGeom prst="rect">
            <a:avLst/>
          </a:prstGeom>
          <a:noFill/>
        </p:spPr>
        <p:txBody>
          <a:bodyPr wrap="square">
            <a:spAutoFit/>
          </a:bodyPr>
          <a:lstStyle/>
          <a:p>
            <a:pPr>
              <a:defRPr sz="950" b="1">
                <a:solidFill>
                  <a:srgbClr val="00D2FF"/>
                </a:solidFill>
                <a:latin typeface="Liberation Mono"/>
              </a:defRPr>
            </a:pPr>
            <a:r>
              <a:t>NO DIRECT READING REQUIRED</a:t>
            </a:r>
          </a:p>
          <a:p>
            <a:pPr>
              <a:spcBef>
                <a:spcPts val="200"/>
              </a:spcBef>
              <a:defRPr sz="1300" b="1">
                <a:solidFill>
                  <a:srgbClr val="FFFFFF"/>
                </a:solidFill>
                <a:latin typeface="Trebuchet MS"/>
              </a:defRPr>
            </a:pPr>
            <a:r>
              <a:t>Unmeasured Estimation</a:t>
            </a:r>
          </a:p>
          <a:p>
            <a:pPr>
              <a:spcBef>
                <a:spcPts val="200"/>
              </a:spcBef>
              <a:defRPr sz="1050">
                <a:solidFill>
                  <a:srgbClr val="94A3B8"/>
                </a:solidFill>
                <a:latin typeface="Calibri"/>
              </a:defRPr>
            </a:pPr>
            <a:r>
              <a:t>Allows estimating Wi-Fi signal at any arbitrary coordinate (x, y) within the survey perimeter without physical access or sensor deployment.</a:t>
            </a:r>
          </a:p>
        </p:txBody>
      </p:sp>
      <p:sp>
        <p:nvSpPr>
          <p:cNvPr id="10" name="Rounded Rectangle 9"/>
          <p:cNvSpPr/>
          <p:nvPr/>
        </p:nvSpPr>
        <p:spPr>
          <a:xfrm>
            <a:off x="6355080" y="3364992"/>
            <a:ext cx="4919472" cy="1234440"/>
          </a:xfrm>
          <a:prstGeom prst="roundRect">
            <a:avLst/>
          </a:prstGeom>
          <a:solidFill>
            <a:srgbClr val="1C2B50"/>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37960" y="3474720"/>
            <a:ext cx="4553712" cy="1014984"/>
          </a:xfrm>
          <a:prstGeom prst="rect">
            <a:avLst/>
          </a:prstGeom>
          <a:noFill/>
        </p:spPr>
        <p:txBody>
          <a:bodyPr wrap="square">
            <a:spAutoFit/>
          </a:bodyPr>
          <a:lstStyle/>
          <a:p>
            <a:pPr>
              <a:defRPr sz="950" b="1">
                <a:solidFill>
                  <a:srgbClr val="10B981"/>
                </a:solidFill>
                <a:latin typeface="Liberation Mono"/>
              </a:defRPr>
            </a:pPr>
            <a:r>
              <a:t>FULLY EXPLAINABLE COEFFICIENTS</a:t>
            </a:r>
          </a:p>
          <a:p>
            <a:pPr>
              <a:spcBef>
                <a:spcPts val="200"/>
              </a:spcBef>
              <a:defRPr sz="1300" b="1">
                <a:solidFill>
                  <a:srgbClr val="FFFFFF"/>
                </a:solidFill>
                <a:latin typeface="Trebuchet MS"/>
              </a:defRPr>
            </a:pPr>
            <a:r>
              <a:t>Engineering Transparency</a:t>
            </a:r>
          </a:p>
          <a:p>
            <a:pPr>
              <a:spcBef>
                <a:spcPts val="200"/>
              </a:spcBef>
              <a:defRPr sz="1050">
                <a:solidFill>
                  <a:srgbClr val="94A3B8"/>
                </a:solidFill>
                <a:latin typeface="Calibri"/>
              </a:defRPr>
            </a:pPr>
            <a:r>
              <a:t>Unlike deep learning or black-box interpolators, β₁ and β₂ give network engineers physical path-loss decay rates along architectural hallways.</a:t>
            </a:r>
          </a:p>
        </p:txBody>
      </p:sp>
      <p:sp>
        <p:nvSpPr>
          <p:cNvPr id="12" name="Rounded Rectangle 11"/>
          <p:cNvSpPr/>
          <p:nvPr/>
        </p:nvSpPr>
        <p:spPr>
          <a:xfrm>
            <a:off x="6355080" y="4764024"/>
            <a:ext cx="4919472" cy="1234440"/>
          </a:xfrm>
          <a:prstGeom prst="roundRect">
            <a:avLst/>
          </a:prstGeom>
          <a:solidFill>
            <a:srgbClr val="1C2B50"/>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37960" y="4873752"/>
            <a:ext cx="4553712" cy="1014984"/>
          </a:xfrm>
          <a:prstGeom prst="rect">
            <a:avLst/>
          </a:prstGeom>
          <a:noFill/>
        </p:spPr>
        <p:txBody>
          <a:bodyPr wrap="square">
            <a:spAutoFit/>
          </a:bodyPr>
          <a:lstStyle/>
          <a:p>
            <a:pPr>
              <a:defRPr sz="950" b="1">
                <a:solidFill>
                  <a:srgbClr val="FBBF24"/>
                </a:solidFill>
                <a:latin typeface="Liberation Mono"/>
              </a:defRPr>
            </a:pPr>
            <a:r>
              <a:t>MAP-COORDINATE SYNCHRONIZATION</a:t>
            </a:r>
          </a:p>
          <a:p>
            <a:pPr>
              <a:spcBef>
                <a:spcPts val="200"/>
              </a:spcBef>
              <a:defRPr sz="1300" b="1">
                <a:solidFill>
                  <a:srgbClr val="FFFFFF"/>
                </a:solidFill>
                <a:latin typeface="Trebuchet MS"/>
              </a:defRPr>
            </a:pPr>
            <a:r>
              <a:t>Direct Zone Alignment</a:t>
            </a:r>
          </a:p>
          <a:p>
            <a:pPr>
              <a:spcBef>
                <a:spcPts val="200"/>
              </a:spcBef>
              <a:defRPr sz="1050">
                <a:solidFill>
                  <a:srgbClr val="94A3B8"/>
                </a:solidFill>
                <a:latin typeface="Calibri"/>
              </a:defRPr>
            </a:pPr>
            <a:r>
              <a:t>Because estimates use the exact same Cartesian metre system as the survey, predictions align seamlessly with architectural CAD blueprints.</a:t>
            </a:r>
          </a:p>
        </p:txBody>
      </p:sp>
      <p:sp>
        <p:nvSpPr>
          <p:cNvPr id="14" name="Rectangle 13"/>
          <p:cNvSpPr/>
          <p:nvPr/>
        </p:nvSpPr>
        <p:spPr>
          <a:xfrm>
            <a:off x="731520" y="6400800"/>
            <a:ext cx="10728655" cy="12700"/>
          </a:xfrm>
          <a:prstGeom prst="rect">
            <a:avLst/>
          </a:prstGeom>
          <a:solidFill>
            <a:srgbClr val="2A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6446520"/>
            <a:ext cx="6400800" cy="274320"/>
          </a:xfrm>
          <a:prstGeom prst="rect">
            <a:avLst/>
          </a:prstGeom>
          <a:noFill/>
        </p:spPr>
        <p:txBody>
          <a:bodyPr wrap="none" lIns="0" tIns="0" rIns="0" bIns="0">
            <a:spAutoFit/>
          </a:bodyPr>
          <a:lstStyle/>
          <a:p>
            <a:pPr>
              <a:defRPr sz="950">
                <a:solidFill>
                  <a:srgbClr val="94A3B8"/>
                </a:solidFill>
                <a:latin typeface="Calibri"/>
              </a:defRPr>
            </a:pPr>
            <a:r>
              <a:t>UE25MA242A · MFAD 2026  |  Wi-FiScope: Campus Wi-Fi Signal Intelligence via Linear Algebra</a:t>
            </a:r>
          </a:p>
        </p:txBody>
      </p:sp>
      <p:sp>
        <p:nvSpPr>
          <p:cNvPr id="16" name="TextBox 15"/>
          <p:cNvSpPr txBox="1"/>
          <p:nvPr/>
        </p:nvSpPr>
        <p:spPr>
          <a:xfrm>
            <a:off x="9631375" y="6446520"/>
            <a:ext cx="1828800" cy="274320"/>
          </a:xfrm>
          <a:prstGeom prst="rect">
            <a:avLst/>
          </a:prstGeom>
          <a:noFill/>
        </p:spPr>
        <p:txBody>
          <a:bodyPr wrap="none" lIns="0" tIns="0" rIns="0" bIns="0">
            <a:spAutoFit/>
          </a:bodyPr>
          <a:lstStyle/>
          <a:p>
            <a:pPr algn="r">
              <a:defRPr sz="950" b="1">
                <a:solidFill>
                  <a:srgbClr val="00D2FF"/>
                </a:solidFill>
                <a:latin typeface="Liberation Mono"/>
              </a:defRPr>
            </a:pPr>
            <a:r>
              <a:t>06 / 11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2926080" cy="256032"/>
          </a:xfrm>
          <a:prstGeom prst="roundRect">
            <a:avLst/>
          </a:prstGeom>
          <a:solidFill>
            <a:srgbClr val="1C2B50"/>
          </a:solidFill>
          <a:ln w="12700">
            <a:solidFill>
              <a:srgbClr val="3B5288"/>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00D2FF"/>
                </a:solidFill>
                <a:latin typeface="Trebuchet MS"/>
              </a:defRPr>
            </a:pPr>
            <a:r>
              <a:t>06 · MODEL VALIDATION</a:t>
            </a:r>
          </a:p>
        </p:txBody>
      </p:sp>
      <p:sp>
        <p:nvSpPr>
          <p:cNvPr id="3" name="TextBox 2"/>
          <p:cNvSpPr txBox="1"/>
          <p:nvPr/>
        </p:nvSpPr>
        <p:spPr>
          <a:xfrm>
            <a:off x="731520" y="621792"/>
            <a:ext cx="10728655" cy="694944"/>
          </a:xfrm>
          <a:prstGeom prst="rect">
            <a:avLst/>
          </a:prstGeom>
          <a:noFill/>
        </p:spPr>
        <p:txBody>
          <a:bodyPr wrap="square" lIns="0" tIns="0" rIns="0" bIns="0">
            <a:spAutoFit/>
          </a:bodyPr>
          <a:lstStyle/>
          <a:p>
            <a:pPr>
              <a:defRPr sz="2050" b="1">
                <a:solidFill>
                  <a:srgbClr val="FFFFFF"/>
                </a:solidFill>
                <a:latin typeface="Trebuchet MS"/>
              </a:defRPr>
            </a:pPr>
            <a:r>
              <a:t>Held-Out Cross Validation Yields 2.45 dBm Mean Absolute Error Across Nodes</a:t>
            </a:r>
          </a:p>
        </p:txBody>
      </p:sp>
      <p:sp>
        <p:nvSpPr>
          <p:cNvPr id="4" name="TextBox 3"/>
          <p:cNvSpPr txBox="1"/>
          <p:nvPr/>
        </p:nvSpPr>
        <p:spPr>
          <a:xfrm>
            <a:off x="731520" y="1371600"/>
            <a:ext cx="10728655" cy="320040"/>
          </a:xfrm>
          <a:prstGeom prst="rect">
            <a:avLst/>
          </a:prstGeom>
          <a:noFill/>
        </p:spPr>
        <p:txBody>
          <a:bodyPr wrap="square" lIns="0" tIns="0" rIns="0" bIns="0">
            <a:spAutoFit/>
          </a:bodyPr>
          <a:lstStyle/>
          <a:p>
            <a:pPr>
              <a:defRPr sz="1150">
                <a:solidFill>
                  <a:srgbClr val="94A3B8"/>
                </a:solidFill>
                <a:latin typeface="Calibri"/>
              </a:defRPr>
            </a:pPr>
            <a:r>
              <a:t>Testing the fitted planar model against unobserved locations confirms robustness against spatial overfitting.</a:t>
            </a:r>
          </a:p>
        </p:txBody>
      </p:sp>
      <p:sp>
        <p:nvSpPr>
          <p:cNvPr id="5" name="Rounded Rectangle 4"/>
          <p:cNvSpPr/>
          <p:nvPr/>
        </p:nvSpPr>
        <p:spPr>
          <a:xfrm>
            <a:off x="731520" y="1810512"/>
            <a:ext cx="5212080" cy="4407408"/>
          </a:xfrm>
          <a:prstGeom prst="roundRect">
            <a:avLst/>
          </a:prstGeom>
          <a:solidFill>
            <a:srgbClr val="16223F"/>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965960"/>
            <a:ext cx="4754880" cy="1371600"/>
          </a:xfrm>
          <a:prstGeom prst="rect">
            <a:avLst/>
          </a:prstGeom>
          <a:noFill/>
        </p:spPr>
        <p:txBody>
          <a:bodyPr wrap="square">
            <a:spAutoFit/>
          </a:bodyPr>
          <a:lstStyle/>
          <a:p>
            <a:pPr>
              <a:defRPr sz="1400" b="1">
                <a:solidFill>
                  <a:srgbClr val="00D2FF"/>
                </a:solidFill>
                <a:latin typeface="Trebuchet MS"/>
              </a:defRPr>
            </a:pPr>
            <a:r>
              <a:t>HELD-OUT CROSS-VALIDATION DESIGN</a:t>
            </a:r>
          </a:p>
          <a:p>
            <a:pPr>
              <a:spcBef>
                <a:spcPts val="300"/>
              </a:spcBef>
              <a:defRPr sz="1100">
                <a:solidFill>
                  <a:srgbClr val="EBF0F7"/>
                </a:solidFill>
                <a:latin typeface="Calibri"/>
              </a:defRPr>
            </a:pPr>
            <a:r>
              <a:t>4 reference locations were held out completely during surface fitting: L01 (Reference), L07 (Interior), L14 (Weak Boundary), and L20 (Far Corner).</a:t>
            </a:r>
          </a:p>
        </p:txBody>
      </p:sp>
      <p:graphicFrame>
        <p:nvGraphicFramePr>
          <p:cNvPr id="7" name="Table 6"/>
          <p:cNvGraphicFramePr>
            <a:graphicFrameLocks noGrp="1"/>
          </p:cNvGraphicFramePr>
          <p:nvPr/>
        </p:nvGraphicFramePr>
        <p:xfrm>
          <a:off x="960120" y="2971800"/>
          <a:ext cx="4754880" cy="1645920"/>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29184">
                <a:tc>
                  <a:txBody>
                    <a:bodyPr/>
                    <a:lstStyle/>
                    <a:p>
                      <a:pPr algn="ctr">
                        <a:defRPr sz="1000" b="1">
                          <a:solidFill>
                            <a:srgbClr val="00D2FF"/>
                          </a:solidFill>
                          <a:latin typeface="Trebuchet MS"/>
                        </a:defRPr>
                      </a:pPr>
                      <a:r>
                        <a:t>Node</a:t>
                      </a:r>
                    </a:p>
                  </a:txBody>
                  <a:tcPr>
                    <a:solidFill>
                      <a:srgbClr val="1C2B50"/>
                    </a:solidFill>
                  </a:tcPr>
                </a:tc>
                <a:tc>
                  <a:txBody>
                    <a:bodyPr/>
                    <a:lstStyle/>
                    <a:p>
                      <a:pPr algn="ctr">
                        <a:defRPr sz="1000" b="1">
                          <a:solidFill>
                            <a:srgbClr val="00D2FF"/>
                          </a:solidFill>
                          <a:latin typeface="Trebuchet MS"/>
                        </a:defRPr>
                      </a:pPr>
                      <a:r>
                        <a:t>Morning</a:t>
                      </a:r>
                    </a:p>
                  </a:txBody>
                  <a:tcPr>
                    <a:solidFill>
                      <a:srgbClr val="1C2B50"/>
                    </a:solidFill>
                  </a:tcPr>
                </a:tc>
                <a:tc>
                  <a:txBody>
                    <a:bodyPr/>
                    <a:lstStyle/>
                    <a:p>
                      <a:pPr algn="ctr">
                        <a:defRPr sz="1000" b="1">
                          <a:solidFill>
                            <a:srgbClr val="00D2FF"/>
                          </a:solidFill>
                          <a:latin typeface="Trebuchet MS"/>
                        </a:defRPr>
                      </a:pPr>
                      <a:r>
                        <a:t>Afternoon</a:t>
                      </a:r>
                    </a:p>
                  </a:txBody>
                  <a:tcPr>
                    <a:solidFill>
                      <a:srgbClr val="1C2B50"/>
                    </a:solidFill>
                  </a:tcPr>
                </a:tc>
                <a:tc>
                  <a:txBody>
                    <a:bodyPr/>
                    <a:lstStyle/>
                    <a:p>
                      <a:pPr algn="ctr">
                        <a:defRPr sz="1000" b="1">
                          <a:solidFill>
                            <a:srgbClr val="00D2FF"/>
                          </a:solidFill>
                          <a:latin typeface="Trebuchet MS"/>
                        </a:defRPr>
                      </a:pPr>
                      <a:r>
                        <a:t>Evening</a:t>
                      </a:r>
                    </a:p>
                  </a:txBody>
                  <a:tcPr>
                    <a:solidFill>
                      <a:srgbClr val="1C2B50"/>
                    </a:solidFill>
                  </a:tcPr>
                </a:tc>
                <a:tc>
                  <a:txBody>
                    <a:bodyPr/>
                    <a:lstStyle/>
                    <a:p>
                      <a:pPr algn="ctr">
                        <a:defRPr sz="1000" b="1">
                          <a:solidFill>
                            <a:srgbClr val="00D2FF"/>
                          </a:solidFill>
                          <a:latin typeface="Trebuchet MS"/>
                        </a:defRPr>
                      </a:pPr>
                      <a:r>
                        <a:t>Mean MAE</a:t>
                      </a:r>
                    </a:p>
                  </a:txBody>
                  <a:tcPr>
                    <a:solidFill>
                      <a:srgbClr val="1C2B50"/>
                    </a:solidFill>
                  </a:tcPr>
                </a:tc>
                <a:extLst>
                  <a:ext uri="{0D108BD9-81ED-4DB2-BD59-A6C34878D82A}">
                    <a16:rowId xmlns:a16="http://schemas.microsoft.com/office/drawing/2014/main" val="10000"/>
                  </a:ext>
                </a:extLst>
              </a:tr>
              <a:tr h="329184">
                <a:tc>
                  <a:txBody>
                    <a:bodyPr/>
                    <a:lstStyle/>
                    <a:p>
                      <a:pPr algn="ctr">
                        <a:defRPr sz="1000" b="1">
                          <a:solidFill>
                            <a:srgbClr val="EBF0F7"/>
                          </a:solidFill>
                          <a:latin typeface="Liberation Mono"/>
                        </a:defRPr>
                      </a:pPr>
                      <a:r>
                        <a:t>L01</a:t>
                      </a:r>
                    </a:p>
                  </a:txBody>
                  <a:tcPr>
                    <a:solidFill>
                      <a:srgbClr val="16223F"/>
                    </a:solidFill>
                  </a:tcPr>
                </a:tc>
                <a:tc>
                  <a:txBody>
                    <a:bodyPr/>
                    <a:lstStyle/>
                    <a:p>
                      <a:pPr algn="ctr">
                        <a:defRPr sz="1000" b="0">
                          <a:solidFill>
                            <a:srgbClr val="EBF0F7"/>
                          </a:solidFill>
                          <a:latin typeface="Liberation Mono"/>
                        </a:defRPr>
                      </a:pPr>
                      <a:r>
                        <a:t>2.7 dB</a:t>
                      </a:r>
                    </a:p>
                  </a:txBody>
                  <a:tcPr>
                    <a:solidFill>
                      <a:srgbClr val="16223F"/>
                    </a:solidFill>
                  </a:tcPr>
                </a:tc>
                <a:tc>
                  <a:txBody>
                    <a:bodyPr/>
                    <a:lstStyle/>
                    <a:p>
                      <a:pPr algn="ctr">
                        <a:defRPr sz="1000" b="0">
                          <a:solidFill>
                            <a:srgbClr val="EBF0F7"/>
                          </a:solidFill>
                          <a:latin typeface="Liberation Mono"/>
                        </a:defRPr>
                      </a:pPr>
                      <a:r>
                        <a:t>2.4 dB</a:t>
                      </a:r>
                    </a:p>
                  </a:txBody>
                  <a:tcPr>
                    <a:solidFill>
                      <a:srgbClr val="16223F"/>
                    </a:solidFill>
                  </a:tcPr>
                </a:tc>
                <a:tc>
                  <a:txBody>
                    <a:bodyPr/>
                    <a:lstStyle/>
                    <a:p>
                      <a:pPr algn="ctr">
                        <a:defRPr sz="1000" b="0">
                          <a:solidFill>
                            <a:srgbClr val="EBF0F7"/>
                          </a:solidFill>
                          <a:latin typeface="Liberation Mono"/>
                        </a:defRPr>
                      </a:pPr>
                      <a:r>
                        <a:t>2.4 dB</a:t>
                      </a:r>
                    </a:p>
                  </a:txBody>
                  <a:tcPr>
                    <a:solidFill>
                      <a:srgbClr val="16223F"/>
                    </a:solidFill>
                  </a:tcPr>
                </a:tc>
                <a:tc>
                  <a:txBody>
                    <a:bodyPr/>
                    <a:lstStyle/>
                    <a:p>
                      <a:pPr algn="ctr">
                        <a:defRPr sz="1000" b="1">
                          <a:solidFill>
                            <a:srgbClr val="EBF0F7"/>
                          </a:solidFill>
                          <a:latin typeface="Liberation Mono"/>
                        </a:defRPr>
                      </a:pPr>
                      <a:r>
                        <a:t>2.50 dB</a:t>
                      </a:r>
                    </a:p>
                  </a:txBody>
                  <a:tcPr>
                    <a:solidFill>
                      <a:srgbClr val="16223F"/>
                    </a:solidFill>
                  </a:tcPr>
                </a:tc>
                <a:extLst>
                  <a:ext uri="{0D108BD9-81ED-4DB2-BD59-A6C34878D82A}">
                    <a16:rowId xmlns:a16="http://schemas.microsoft.com/office/drawing/2014/main" val="10001"/>
                  </a:ext>
                </a:extLst>
              </a:tr>
              <a:tr h="329184">
                <a:tc>
                  <a:txBody>
                    <a:bodyPr/>
                    <a:lstStyle/>
                    <a:p>
                      <a:pPr algn="ctr">
                        <a:defRPr sz="1000" b="1">
                          <a:solidFill>
                            <a:srgbClr val="EBF0F7"/>
                          </a:solidFill>
                          <a:latin typeface="Liberation Mono"/>
                        </a:defRPr>
                      </a:pPr>
                      <a:r>
                        <a:t>L07</a:t>
                      </a:r>
                    </a:p>
                  </a:txBody>
                  <a:tcPr>
                    <a:solidFill>
                      <a:srgbClr val="0B132B"/>
                    </a:solidFill>
                  </a:tcPr>
                </a:tc>
                <a:tc>
                  <a:txBody>
                    <a:bodyPr/>
                    <a:lstStyle/>
                    <a:p>
                      <a:pPr algn="ctr">
                        <a:defRPr sz="1000" b="0">
                          <a:solidFill>
                            <a:srgbClr val="EBF0F7"/>
                          </a:solidFill>
                          <a:latin typeface="Liberation Mono"/>
                        </a:defRPr>
                      </a:pPr>
                      <a:r>
                        <a:t>0.6 dB</a:t>
                      </a:r>
                    </a:p>
                  </a:txBody>
                  <a:tcPr>
                    <a:solidFill>
                      <a:srgbClr val="0B132B"/>
                    </a:solidFill>
                  </a:tcPr>
                </a:tc>
                <a:tc>
                  <a:txBody>
                    <a:bodyPr/>
                    <a:lstStyle/>
                    <a:p>
                      <a:pPr algn="ctr">
                        <a:defRPr sz="1000" b="0">
                          <a:solidFill>
                            <a:srgbClr val="EBF0F7"/>
                          </a:solidFill>
                          <a:latin typeface="Liberation Mono"/>
                        </a:defRPr>
                      </a:pPr>
                      <a:r>
                        <a:t>0.3 dB</a:t>
                      </a:r>
                    </a:p>
                  </a:txBody>
                  <a:tcPr>
                    <a:solidFill>
                      <a:srgbClr val="0B132B"/>
                    </a:solidFill>
                  </a:tcPr>
                </a:tc>
                <a:tc>
                  <a:txBody>
                    <a:bodyPr/>
                    <a:lstStyle/>
                    <a:p>
                      <a:pPr algn="ctr">
                        <a:defRPr sz="1000" b="0">
                          <a:solidFill>
                            <a:srgbClr val="EBF0F7"/>
                          </a:solidFill>
                          <a:latin typeface="Liberation Mono"/>
                        </a:defRPr>
                      </a:pPr>
                      <a:r>
                        <a:t>0.2 dB</a:t>
                      </a:r>
                    </a:p>
                  </a:txBody>
                  <a:tcPr>
                    <a:solidFill>
                      <a:srgbClr val="0B132B"/>
                    </a:solidFill>
                  </a:tcPr>
                </a:tc>
                <a:tc>
                  <a:txBody>
                    <a:bodyPr/>
                    <a:lstStyle/>
                    <a:p>
                      <a:pPr algn="ctr">
                        <a:defRPr sz="1000" b="1">
                          <a:solidFill>
                            <a:srgbClr val="10B981"/>
                          </a:solidFill>
                          <a:latin typeface="Liberation Mono"/>
                        </a:defRPr>
                      </a:pPr>
                      <a:r>
                        <a:t>0.37 dB</a:t>
                      </a:r>
                    </a:p>
                  </a:txBody>
                  <a:tcPr>
                    <a:solidFill>
                      <a:srgbClr val="0B132B"/>
                    </a:solidFill>
                  </a:tcPr>
                </a:tc>
                <a:extLst>
                  <a:ext uri="{0D108BD9-81ED-4DB2-BD59-A6C34878D82A}">
                    <a16:rowId xmlns:a16="http://schemas.microsoft.com/office/drawing/2014/main" val="10002"/>
                  </a:ext>
                </a:extLst>
              </a:tr>
              <a:tr h="329184">
                <a:tc>
                  <a:txBody>
                    <a:bodyPr/>
                    <a:lstStyle/>
                    <a:p>
                      <a:pPr algn="ctr">
                        <a:defRPr sz="1000" b="1">
                          <a:solidFill>
                            <a:srgbClr val="EBF0F7"/>
                          </a:solidFill>
                          <a:latin typeface="Liberation Mono"/>
                        </a:defRPr>
                      </a:pPr>
                      <a:r>
                        <a:t>L14</a:t>
                      </a:r>
                    </a:p>
                  </a:txBody>
                  <a:tcPr>
                    <a:solidFill>
                      <a:srgbClr val="16223F"/>
                    </a:solidFill>
                  </a:tcPr>
                </a:tc>
                <a:tc>
                  <a:txBody>
                    <a:bodyPr/>
                    <a:lstStyle/>
                    <a:p>
                      <a:pPr algn="ctr">
                        <a:defRPr sz="1000" b="0">
                          <a:solidFill>
                            <a:srgbClr val="EBF0F7"/>
                          </a:solidFill>
                          <a:latin typeface="Liberation Mono"/>
                        </a:defRPr>
                      </a:pPr>
                      <a:r>
                        <a:t>3.9 dB</a:t>
                      </a:r>
                    </a:p>
                  </a:txBody>
                  <a:tcPr>
                    <a:solidFill>
                      <a:srgbClr val="16223F"/>
                    </a:solidFill>
                  </a:tcPr>
                </a:tc>
                <a:tc>
                  <a:txBody>
                    <a:bodyPr/>
                    <a:lstStyle/>
                    <a:p>
                      <a:pPr algn="ctr">
                        <a:defRPr sz="1000" b="0">
                          <a:solidFill>
                            <a:srgbClr val="EBF0F7"/>
                          </a:solidFill>
                          <a:latin typeface="Liberation Mono"/>
                        </a:defRPr>
                      </a:pPr>
                      <a:r>
                        <a:t>4.7 dB</a:t>
                      </a:r>
                    </a:p>
                  </a:txBody>
                  <a:tcPr>
                    <a:solidFill>
                      <a:srgbClr val="16223F"/>
                    </a:solidFill>
                  </a:tcPr>
                </a:tc>
                <a:tc>
                  <a:txBody>
                    <a:bodyPr/>
                    <a:lstStyle/>
                    <a:p>
                      <a:pPr algn="ctr">
                        <a:defRPr sz="1000" b="0">
                          <a:solidFill>
                            <a:srgbClr val="EBF0F7"/>
                          </a:solidFill>
                          <a:latin typeface="Liberation Mono"/>
                        </a:defRPr>
                      </a:pPr>
                      <a:r>
                        <a:t>4.2 dB</a:t>
                      </a:r>
                    </a:p>
                  </a:txBody>
                  <a:tcPr>
                    <a:solidFill>
                      <a:srgbClr val="16223F"/>
                    </a:solidFill>
                  </a:tcPr>
                </a:tc>
                <a:tc>
                  <a:txBody>
                    <a:bodyPr/>
                    <a:lstStyle/>
                    <a:p>
                      <a:pPr algn="ctr">
                        <a:defRPr sz="1000" b="1">
                          <a:solidFill>
                            <a:srgbClr val="FBBF24"/>
                          </a:solidFill>
                          <a:latin typeface="Liberation Mono"/>
                        </a:defRPr>
                      </a:pPr>
                      <a:r>
                        <a:t>4.27 dB</a:t>
                      </a:r>
                    </a:p>
                  </a:txBody>
                  <a:tcPr>
                    <a:solidFill>
                      <a:srgbClr val="16223F"/>
                    </a:solidFill>
                  </a:tcPr>
                </a:tc>
                <a:extLst>
                  <a:ext uri="{0D108BD9-81ED-4DB2-BD59-A6C34878D82A}">
                    <a16:rowId xmlns:a16="http://schemas.microsoft.com/office/drawing/2014/main" val="10003"/>
                  </a:ext>
                </a:extLst>
              </a:tr>
              <a:tr h="329184">
                <a:tc>
                  <a:txBody>
                    <a:bodyPr/>
                    <a:lstStyle/>
                    <a:p>
                      <a:pPr algn="ctr">
                        <a:defRPr sz="1000" b="1">
                          <a:solidFill>
                            <a:srgbClr val="EBF0F7"/>
                          </a:solidFill>
                          <a:latin typeface="Liberation Mono"/>
                        </a:defRPr>
                      </a:pPr>
                      <a:r>
                        <a:t>L20</a:t>
                      </a:r>
                    </a:p>
                  </a:txBody>
                  <a:tcPr>
                    <a:solidFill>
                      <a:srgbClr val="0B132B"/>
                    </a:solidFill>
                  </a:tcPr>
                </a:tc>
                <a:tc>
                  <a:txBody>
                    <a:bodyPr/>
                    <a:lstStyle/>
                    <a:p>
                      <a:pPr algn="ctr">
                        <a:defRPr sz="1000" b="0">
                          <a:solidFill>
                            <a:srgbClr val="EBF0F7"/>
                          </a:solidFill>
                          <a:latin typeface="Liberation Mono"/>
                        </a:defRPr>
                      </a:pPr>
                      <a:r>
                        <a:t>2.4 dB</a:t>
                      </a:r>
                    </a:p>
                  </a:txBody>
                  <a:tcPr>
                    <a:solidFill>
                      <a:srgbClr val="0B132B"/>
                    </a:solidFill>
                  </a:tcPr>
                </a:tc>
                <a:tc>
                  <a:txBody>
                    <a:bodyPr/>
                    <a:lstStyle/>
                    <a:p>
                      <a:pPr algn="ctr">
                        <a:defRPr sz="1000" b="0">
                          <a:solidFill>
                            <a:srgbClr val="EBF0F7"/>
                          </a:solidFill>
                          <a:latin typeface="Liberation Mono"/>
                        </a:defRPr>
                      </a:pPr>
                      <a:r>
                        <a:t>3.0 dB</a:t>
                      </a:r>
                    </a:p>
                  </a:txBody>
                  <a:tcPr>
                    <a:solidFill>
                      <a:srgbClr val="0B132B"/>
                    </a:solidFill>
                  </a:tcPr>
                </a:tc>
                <a:tc>
                  <a:txBody>
                    <a:bodyPr/>
                    <a:lstStyle/>
                    <a:p>
                      <a:pPr algn="ctr">
                        <a:defRPr sz="1000" b="0">
                          <a:solidFill>
                            <a:srgbClr val="EBF0F7"/>
                          </a:solidFill>
                          <a:latin typeface="Liberation Mono"/>
                        </a:defRPr>
                      </a:pPr>
                      <a:r>
                        <a:t>2.6 dB</a:t>
                      </a:r>
                    </a:p>
                  </a:txBody>
                  <a:tcPr>
                    <a:solidFill>
                      <a:srgbClr val="0B132B"/>
                    </a:solidFill>
                  </a:tcPr>
                </a:tc>
                <a:tc>
                  <a:txBody>
                    <a:bodyPr/>
                    <a:lstStyle/>
                    <a:p>
                      <a:pPr algn="ctr">
                        <a:defRPr sz="1000" b="1">
                          <a:solidFill>
                            <a:srgbClr val="EBF0F7"/>
                          </a:solidFill>
                          <a:latin typeface="Liberation Mono"/>
                        </a:defRPr>
                      </a:pPr>
                      <a:r>
                        <a:t>2.67 dB</a:t>
                      </a:r>
                    </a:p>
                  </a:txBody>
                  <a:tcPr>
                    <a:solidFill>
                      <a:srgbClr val="0B132B"/>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960120" y="4754880"/>
            <a:ext cx="4754880" cy="1371600"/>
          </a:xfrm>
          <a:prstGeom prst="rect">
            <a:avLst/>
          </a:prstGeom>
          <a:noFill/>
        </p:spPr>
        <p:txBody>
          <a:bodyPr wrap="square">
            <a:spAutoFit/>
          </a:bodyPr>
          <a:lstStyle/>
          <a:p>
            <a:pPr>
              <a:defRPr sz="1250" b="1">
                <a:solidFill>
                  <a:srgbClr val="FFFFFF"/>
                </a:solidFill>
                <a:latin typeface="Trebuchet MS"/>
              </a:defRPr>
            </a:pPr>
            <a:r>
              <a:t>Why Hold Out Survey Points?</a:t>
            </a:r>
          </a:p>
          <a:p>
            <a:pPr>
              <a:spcBef>
                <a:spcPts val="300"/>
              </a:spcBef>
              <a:defRPr sz="1100">
                <a:solidFill>
                  <a:srgbClr val="94A3B8"/>
                </a:solidFill>
                <a:latin typeface="Calibri"/>
              </a:defRPr>
            </a:pPr>
            <a:r>
              <a:t>Evaluating error on the exact points used for training leads to artificial optimism. By holding out key quadrant anchors, we demonstrate genuine predictive capability on unmeasured coordinates.</a:t>
            </a:r>
          </a:p>
        </p:txBody>
      </p:sp>
      <p:sp>
        <p:nvSpPr>
          <p:cNvPr id="9" name="Rounded Rectangle 8"/>
          <p:cNvSpPr/>
          <p:nvPr/>
        </p:nvSpPr>
        <p:spPr>
          <a:xfrm>
            <a:off x="6172200" y="1810512"/>
            <a:ext cx="5285232" cy="4407408"/>
          </a:xfrm>
          <a:prstGeom prst="roundRect">
            <a:avLst/>
          </a:prstGeom>
          <a:solidFill>
            <a:srgbClr val="16223F"/>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validation_mae.png"/>
          <p:cNvPicPr>
            <a:picLocks noChangeAspect="1"/>
          </p:cNvPicPr>
          <p:nvPr/>
        </p:nvPicPr>
        <p:blipFill>
          <a:blip r:embed="rId3"/>
          <a:stretch>
            <a:fillRect/>
          </a:stretch>
        </p:blipFill>
        <p:spPr>
          <a:xfrm>
            <a:off x="6355080" y="1965960"/>
            <a:ext cx="4919472" cy="2926080"/>
          </a:xfrm>
          <a:prstGeom prst="rect">
            <a:avLst/>
          </a:prstGeom>
        </p:spPr>
      </p:pic>
      <p:sp>
        <p:nvSpPr>
          <p:cNvPr id="11" name="Rounded Rectangle 10"/>
          <p:cNvSpPr/>
          <p:nvPr/>
        </p:nvSpPr>
        <p:spPr>
          <a:xfrm>
            <a:off x="6355080" y="5029200"/>
            <a:ext cx="4919472" cy="1051560"/>
          </a:xfrm>
          <a:prstGeom prst="roundRect">
            <a:avLst/>
          </a:prstGeom>
          <a:solidFill>
            <a:srgbClr val="1C2B50"/>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37960" y="5074920"/>
            <a:ext cx="4553712" cy="960120"/>
          </a:xfrm>
          <a:prstGeom prst="rect">
            <a:avLst/>
          </a:prstGeom>
          <a:noFill/>
        </p:spPr>
        <p:txBody>
          <a:bodyPr wrap="square">
            <a:spAutoFit/>
          </a:bodyPr>
          <a:lstStyle/>
          <a:p>
            <a:pPr>
              <a:defRPr sz="1500" b="1">
                <a:solidFill>
                  <a:srgbClr val="10B981"/>
                </a:solidFill>
                <a:latin typeface="Trebuchet MS"/>
              </a:defRPr>
            </a:pPr>
            <a:r>
              <a:t>GLOBAL VALIDATION MAE: 2.45 dBm</a:t>
            </a:r>
          </a:p>
          <a:p>
            <a:pPr>
              <a:spcBef>
                <a:spcPts val="200"/>
              </a:spcBef>
              <a:defRPr sz="1050">
                <a:solidFill>
                  <a:srgbClr val="EBF0F7"/>
                </a:solidFill>
                <a:latin typeface="Calibri"/>
              </a:defRPr>
            </a:pPr>
            <a:r>
              <a:t>Sub-3 dBm error falls comfortably within standard industrial Wi-Fi survey tolerances, proving the first-order plane is an effective, lightweight spatial estimator.</a:t>
            </a:r>
          </a:p>
        </p:txBody>
      </p:sp>
      <p:sp>
        <p:nvSpPr>
          <p:cNvPr id="13" name="Rectangle 12"/>
          <p:cNvSpPr/>
          <p:nvPr/>
        </p:nvSpPr>
        <p:spPr>
          <a:xfrm>
            <a:off x="731520" y="6400800"/>
            <a:ext cx="10728655" cy="12700"/>
          </a:xfrm>
          <a:prstGeom prst="rect">
            <a:avLst/>
          </a:prstGeom>
          <a:solidFill>
            <a:srgbClr val="2A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6446520"/>
            <a:ext cx="6400800" cy="274320"/>
          </a:xfrm>
          <a:prstGeom prst="rect">
            <a:avLst/>
          </a:prstGeom>
          <a:noFill/>
        </p:spPr>
        <p:txBody>
          <a:bodyPr wrap="none" lIns="0" tIns="0" rIns="0" bIns="0">
            <a:spAutoFit/>
          </a:bodyPr>
          <a:lstStyle/>
          <a:p>
            <a:pPr>
              <a:defRPr sz="950">
                <a:solidFill>
                  <a:srgbClr val="94A3B8"/>
                </a:solidFill>
                <a:latin typeface="Calibri"/>
              </a:defRPr>
            </a:pPr>
            <a:r>
              <a:t>UE25MA242A · MFAD 2026  |  Wi-FiScope: Campus Wi-Fi Signal Intelligence via Linear Algebra</a:t>
            </a:r>
          </a:p>
        </p:txBody>
      </p:sp>
      <p:sp>
        <p:nvSpPr>
          <p:cNvPr id="15" name="TextBox 14"/>
          <p:cNvSpPr txBox="1"/>
          <p:nvPr/>
        </p:nvSpPr>
        <p:spPr>
          <a:xfrm>
            <a:off x="9631375" y="6446520"/>
            <a:ext cx="1828800" cy="274320"/>
          </a:xfrm>
          <a:prstGeom prst="rect">
            <a:avLst/>
          </a:prstGeom>
          <a:noFill/>
        </p:spPr>
        <p:txBody>
          <a:bodyPr wrap="none" lIns="0" tIns="0" rIns="0" bIns="0">
            <a:spAutoFit/>
          </a:bodyPr>
          <a:lstStyle/>
          <a:p>
            <a:pPr algn="r">
              <a:defRPr sz="950" b="1">
                <a:solidFill>
                  <a:srgbClr val="00D2FF"/>
                </a:solidFill>
                <a:latin typeface="Liberation Mono"/>
              </a:defRPr>
            </a:pPr>
            <a:r>
              <a:t>07 / 11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2926080" cy="256032"/>
          </a:xfrm>
          <a:prstGeom prst="roundRect">
            <a:avLst/>
          </a:prstGeom>
          <a:solidFill>
            <a:srgbClr val="1C2B50"/>
          </a:solidFill>
          <a:ln w="12700">
            <a:solidFill>
              <a:srgbClr val="3B5288"/>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00D2FF"/>
                </a:solidFill>
                <a:latin typeface="Trebuchet MS"/>
              </a:defRPr>
            </a:pPr>
            <a:r>
              <a:t>07 · DEAD-ZONE DETECTION</a:t>
            </a:r>
          </a:p>
        </p:txBody>
      </p:sp>
      <p:sp>
        <p:nvSpPr>
          <p:cNvPr id="3" name="TextBox 2"/>
          <p:cNvSpPr txBox="1"/>
          <p:nvPr/>
        </p:nvSpPr>
        <p:spPr>
          <a:xfrm>
            <a:off x="731520" y="621792"/>
            <a:ext cx="10728655" cy="694944"/>
          </a:xfrm>
          <a:prstGeom prst="rect">
            <a:avLst/>
          </a:prstGeom>
          <a:noFill/>
        </p:spPr>
        <p:txBody>
          <a:bodyPr wrap="square" lIns="0" tIns="0" rIns="0" bIns="0">
            <a:spAutoFit/>
          </a:bodyPr>
          <a:lstStyle/>
          <a:p>
            <a:pPr>
              <a:defRPr sz="2050" b="1">
                <a:solidFill>
                  <a:srgbClr val="FFFFFF"/>
                </a:solidFill>
                <a:latin typeface="Trebuchet MS"/>
              </a:defRPr>
            </a:pPr>
            <a:r>
              <a:t>Dual-Condition Filtering Eliminates False Alarms to Isolate Chronic Weak Zones</a:t>
            </a:r>
          </a:p>
        </p:txBody>
      </p:sp>
      <p:sp>
        <p:nvSpPr>
          <p:cNvPr id="4" name="TextBox 3"/>
          <p:cNvSpPr txBox="1"/>
          <p:nvPr/>
        </p:nvSpPr>
        <p:spPr>
          <a:xfrm>
            <a:off x="731520" y="1371600"/>
            <a:ext cx="10728655" cy="320040"/>
          </a:xfrm>
          <a:prstGeom prst="rect">
            <a:avLst/>
          </a:prstGeom>
          <a:noFill/>
        </p:spPr>
        <p:txBody>
          <a:bodyPr wrap="square" lIns="0" tIns="0" rIns="0" bIns="0">
            <a:spAutoFit/>
          </a:bodyPr>
          <a:lstStyle/>
          <a:p>
            <a:pPr>
              <a:defRPr sz="1150">
                <a:solidFill>
                  <a:srgbClr val="94A3B8"/>
                </a:solidFill>
                <a:latin typeface="Calibri"/>
              </a:defRPr>
            </a:pPr>
            <a:r>
              <a:t>Requiring both low average power and multi-period persistence prevents transient dips from triggering false alarms.</a:t>
            </a:r>
          </a:p>
        </p:txBody>
      </p:sp>
      <p:sp>
        <p:nvSpPr>
          <p:cNvPr id="5" name="Rounded Rectangle 4"/>
          <p:cNvSpPr/>
          <p:nvPr/>
        </p:nvSpPr>
        <p:spPr>
          <a:xfrm>
            <a:off x="731520" y="1810512"/>
            <a:ext cx="5212080" cy="2011680"/>
          </a:xfrm>
          <a:prstGeom prst="roundRect">
            <a:avLst/>
          </a:prstGeom>
          <a:solidFill>
            <a:srgbClr val="16223F"/>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920240"/>
            <a:ext cx="4754880" cy="1737360"/>
          </a:xfrm>
          <a:prstGeom prst="rect">
            <a:avLst/>
          </a:prstGeom>
          <a:noFill/>
        </p:spPr>
        <p:txBody>
          <a:bodyPr wrap="square">
            <a:spAutoFit/>
          </a:bodyPr>
          <a:lstStyle/>
          <a:p>
            <a:pPr>
              <a:defRPr sz="1000" b="1">
                <a:solidFill>
                  <a:srgbClr val="F43F5E"/>
                </a:solidFill>
                <a:latin typeface="Liberation Mono"/>
              </a:defRPr>
            </a:pPr>
            <a:r>
              <a:t>CONDITION 1: SIGNAL LEVEL THRESHOLD</a:t>
            </a:r>
          </a:p>
          <a:p>
            <a:pPr>
              <a:spcBef>
                <a:spcPts val="300"/>
              </a:spcBef>
              <a:defRPr sz="1800" b="1">
                <a:solidFill>
                  <a:srgbClr val="FFFFFF"/>
                </a:solidFill>
                <a:latin typeface="Trebuchet MS"/>
              </a:defRPr>
            </a:pPr>
            <a:r>
              <a:t>Average RSSI ≤ −67 dBm</a:t>
            </a:r>
          </a:p>
          <a:p>
            <a:pPr>
              <a:spcBef>
                <a:spcPts val="400"/>
              </a:spcBef>
              <a:defRPr sz="1100">
                <a:solidFill>
                  <a:srgbClr val="EBF0F7"/>
                </a:solidFill>
                <a:latin typeface="Calibri"/>
              </a:defRPr>
            </a:pPr>
            <a:r>
              <a:t>Captures overall degraded signal level. -67 dBm represents the standard IEEE/commercial boundary required for high-throughput video streaming and low-latency VoIP conferencing.</a:t>
            </a:r>
          </a:p>
        </p:txBody>
      </p:sp>
      <p:sp>
        <p:nvSpPr>
          <p:cNvPr id="7" name="Rounded Rectangle 6"/>
          <p:cNvSpPr/>
          <p:nvPr/>
        </p:nvSpPr>
        <p:spPr>
          <a:xfrm>
            <a:off x="6172200" y="1810512"/>
            <a:ext cx="5285232" cy="2011680"/>
          </a:xfrm>
          <a:prstGeom prst="roundRect">
            <a:avLst/>
          </a:prstGeom>
          <a:solidFill>
            <a:srgbClr val="16223F"/>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920240"/>
            <a:ext cx="4828032" cy="1737360"/>
          </a:xfrm>
          <a:prstGeom prst="rect">
            <a:avLst/>
          </a:prstGeom>
          <a:noFill/>
        </p:spPr>
        <p:txBody>
          <a:bodyPr wrap="square">
            <a:spAutoFit/>
          </a:bodyPr>
          <a:lstStyle/>
          <a:p>
            <a:pPr>
              <a:defRPr sz="1000" b="1">
                <a:solidFill>
                  <a:srgbClr val="FBBF24"/>
                </a:solidFill>
                <a:latin typeface="Liberation Mono"/>
              </a:defRPr>
            </a:pPr>
            <a:r>
              <a:t>CONDITION 2: TEMPORAL PERSISTENCE</a:t>
            </a:r>
          </a:p>
          <a:p>
            <a:pPr>
              <a:spcBef>
                <a:spcPts val="300"/>
              </a:spcBef>
              <a:defRPr sz="1800" b="1">
                <a:solidFill>
                  <a:srgbClr val="FFFFFF"/>
                </a:solidFill>
                <a:latin typeface="Trebuchet MS"/>
              </a:defRPr>
            </a:pPr>
            <a:r>
              <a:t>≥ 50% Time Periods ≤ −67 dBm</a:t>
            </a:r>
          </a:p>
          <a:p>
            <a:pPr>
              <a:spcBef>
                <a:spcPts val="400"/>
              </a:spcBef>
              <a:defRPr sz="1100">
                <a:solidFill>
                  <a:srgbClr val="EBF0F7"/>
                </a:solidFill>
                <a:latin typeface="Calibri"/>
              </a:defRPr>
            </a:pPr>
            <a:r>
              <a:t>Guarantees temporal stability. A single momentary dip during peak afternoon rush will NOT falsely classify a healthy zone as a dead zone. The deficit must persist across multiple epochs.</a:t>
            </a:r>
          </a:p>
        </p:txBody>
      </p:sp>
      <p:sp>
        <p:nvSpPr>
          <p:cNvPr id="9" name="Rounded Rectangle 8"/>
          <p:cNvSpPr/>
          <p:nvPr/>
        </p:nvSpPr>
        <p:spPr>
          <a:xfrm>
            <a:off x="731520" y="4005072"/>
            <a:ext cx="10728655" cy="2212848"/>
          </a:xfrm>
          <a:prstGeom prst="roundRect">
            <a:avLst/>
          </a:prstGeom>
          <a:solidFill>
            <a:srgbClr val="16223F"/>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4114800"/>
            <a:ext cx="10271455" cy="411480"/>
          </a:xfrm>
          <a:prstGeom prst="rect">
            <a:avLst/>
          </a:prstGeom>
          <a:noFill/>
        </p:spPr>
        <p:txBody>
          <a:bodyPr wrap="none">
            <a:spAutoFit/>
          </a:bodyPr>
          <a:lstStyle/>
          <a:p>
            <a:pPr>
              <a:defRPr sz="1300" b="1">
                <a:solidFill>
                  <a:srgbClr val="F43F5E"/>
                </a:solidFill>
                <a:latin typeface="Trebuchet MS"/>
              </a:defRPr>
            </a:pPr>
            <a:r>
              <a:t>IDENTIFIED CHRONIC DEAD-ZONE CLUSTER (MEETS BOTH CRITERIA)</a:t>
            </a:r>
          </a:p>
        </p:txBody>
      </p:sp>
      <p:sp>
        <p:nvSpPr>
          <p:cNvPr id="11" name="Rounded Rectangle 10"/>
          <p:cNvSpPr/>
          <p:nvPr/>
        </p:nvSpPr>
        <p:spPr>
          <a:xfrm>
            <a:off x="960120" y="4617720"/>
            <a:ext cx="2450592" cy="1371600"/>
          </a:xfrm>
          <a:prstGeom prst="roundRect">
            <a:avLst/>
          </a:prstGeom>
          <a:solidFill>
            <a:srgbClr val="1C2B50"/>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4681728"/>
            <a:ext cx="2176272" cy="1152144"/>
          </a:xfrm>
          <a:prstGeom prst="rect">
            <a:avLst/>
          </a:prstGeom>
          <a:noFill/>
        </p:spPr>
        <p:txBody>
          <a:bodyPr wrap="square">
            <a:spAutoFit/>
          </a:bodyPr>
          <a:lstStyle/>
          <a:p>
            <a:pPr>
              <a:defRPr sz="1400" b="1">
                <a:solidFill>
                  <a:srgbClr val="FBBF24"/>
                </a:solidFill>
                <a:latin typeface="Trebuchet MS"/>
              </a:defRPr>
            </a:pPr>
            <a:r>
              <a:t>L14  ·  -67.4 dBm</a:t>
            </a:r>
          </a:p>
          <a:p>
            <a:pPr>
              <a:spcBef>
                <a:spcPts val="200"/>
              </a:spcBef>
              <a:defRPr sz="950" b="1">
                <a:solidFill>
                  <a:srgbClr val="FFFFFF"/>
                </a:solidFill>
                <a:latin typeface="Liberation Mono"/>
              </a:defRPr>
            </a:pPr>
            <a:r>
              <a:t>Boundary Node</a:t>
            </a:r>
          </a:p>
          <a:p>
            <a:pPr>
              <a:spcBef>
                <a:spcPts val="200"/>
              </a:spcBef>
              <a:defRPr sz="950">
                <a:solidFill>
                  <a:srgbClr val="94A3B8"/>
                </a:solidFill>
                <a:latin typeface="Calibri"/>
              </a:defRPr>
            </a:pPr>
            <a:r>
              <a:t>Average just crosses threshold; 2 of 3 periods ≤ -67 dBm.</a:t>
            </a:r>
          </a:p>
        </p:txBody>
      </p:sp>
      <p:sp>
        <p:nvSpPr>
          <p:cNvPr id="13" name="Rounded Rectangle 12"/>
          <p:cNvSpPr/>
          <p:nvPr/>
        </p:nvSpPr>
        <p:spPr>
          <a:xfrm>
            <a:off x="3630168" y="4617720"/>
            <a:ext cx="2450592" cy="1371600"/>
          </a:xfrm>
          <a:prstGeom prst="roundRect">
            <a:avLst/>
          </a:prstGeom>
          <a:solidFill>
            <a:srgbClr val="1C2B50"/>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67328" y="4681728"/>
            <a:ext cx="2176272" cy="1152144"/>
          </a:xfrm>
          <a:prstGeom prst="rect">
            <a:avLst/>
          </a:prstGeom>
          <a:noFill/>
        </p:spPr>
        <p:txBody>
          <a:bodyPr wrap="square">
            <a:spAutoFit/>
          </a:bodyPr>
          <a:lstStyle/>
          <a:p>
            <a:pPr>
              <a:defRPr sz="1400" b="1">
                <a:solidFill>
                  <a:srgbClr val="F43F5E"/>
                </a:solidFill>
                <a:latin typeface="Trebuchet MS"/>
              </a:defRPr>
            </a:pPr>
            <a:r>
              <a:t>L15  ·  -70.3 dBm</a:t>
            </a:r>
          </a:p>
          <a:p>
            <a:pPr>
              <a:spcBef>
                <a:spcPts val="200"/>
              </a:spcBef>
              <a:defRPr sz="950" b="1">
                <a:solidFill>
                  <a:srgbClr val="FFFFFF"/>
                </a:solidFill>
                <a:latin typeface="Liberation Mono"/>
              </a:defRPr>
            </a:pPr>
            <a:r>
              <a:t>Far-Wall Node</a:t>
            </a:r>
          </a:p>
          <a:p>
            <a:pPr>
              <a:spcBef>
                <a:spcPts val="200"/>
              </a:spcBef>
              <a:defRPr sz="950">
                <a:solidFill>
                  <a:srgbClr val="94A3B8"/>
                </a:solidFill>
                <a:latin typeface="Calibri"/>
              </a:defRPr>
            </a:pPr>
            <a:r>
              <a:t>Severe attenuation; all 3 periods (-68.3, -71.1, -71.4) fail.</a:t>
            </a:r>
          </a:p>
        </p:txBody>
      </p:sp>
      <p:sp>
        <p:nvSpPr>
          <p:cNvPr id="15" name="Rounded Rectangle 14"/>
          <p:cNvSpPr/>
          <p:nvPr/>
        </p:nvSpPr>
        <p:spPr>
          <a:xfrm>
            <a:off x="6300216" y="4617720"/>
            <a:ext cx="2450592" cy="1371600"/>
          </a:xfrm>
          <a:prstGeom prst="roundRect">
            <a:avLst/>
          </a:prstGeom>
          <a:solidFill>
            <a:srgbClr val="1C2B50"/>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37376" y="4681728"/>
            <a:ext cx="2176272" cy="1152144"/>
          </a:xfrm>
          <a:prstGeom prst="rect">
            <a:avLst/>
          </a:prstGeom>
          <a:noFill/>
        </p:spPr>
        <p:txBody>
          <a:bodyPr wrap="square">
            <a:spAutoFit/>
          </a:bodyPr>
          <a:lstStyle/>
          <a:p>
            <a:pPr>
              <a:defRPr sz="1400" b="1">
                <a:solidFill>
                  <a:srgbClr val="F43F5E"/>
                </a:solidFill>
                <a:latin typeface="Trebuchet MS"/>
              </a:defRPr>
            </a:pPr>
            <a:r>
              <a:t>L19  ·  -70.2 dBm</a:t>
            </a:r>
          </a:p>
          <a:p>
            <a:pPr>
              <a:spcBef>
                <a:spcPts val="200"/>
              </a:spcBef>
              <a:defRPr sz="950" b="1">
                <a:solidFill>
                  <a:srgbClr val="FFFFFF"/>
                </a:solidFill>
                <a:latin typeface="Liberation Mono"/>
              </a:defRPr>
            </a:pPr>
            <a:r>
              <a:t>North Corridor</a:t>
            </a:r>
          </a:p>
          <a:p>
            <a:pPr>
              <a:spcBef>
                <a:spcPts val="200"/>
              </a:spcBef>
              <a:defRPr sz="950">
                <a:solidFill>
                  <a:srgbClr val="94A3B8"/>
                </a:solidFill>
                <a:latin typeface="Calibri"/>
              </a:defRPr>
            </a:pPr>
            <a:r>
              <a:t>Chronic shadow behind structural load-bearing concrete.</a:t>
            </a:r>
          </a:p>
        </p:txBody>
      </p:sp>
      <p:sp>
        <p:nvSpPr>
          <p:cNvPr id="17" name="Rounded Rectangle 16"/>
          <p:cNvSpPr/>
          <p:nvPr/>
        </p:nvSpPr>
        <p:spPr>
          <a:xfrm>
            <a:off x="8970264" y="4617720"/>
            <a:ext cx="2450592" cy="1371600"/>
          </a:xfrm>
          <a:prstGeom prst="roundRect">
            <a:avLst/>
          </a:prstGeom>
          <a:solidFill>
            <a:srgbClr val="1C2B50"/>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07424" y="4681728"/>
            <a:ext cx="2176272" cy="1152144"/>
          </a:xfrm>
          <a:prstGeom prst="rect">
            <a:avLst/>
          </a:prstGeom>
          <a:noFill/>
        </p:spPr>
        <p:txBody>
          <a:bodyPr wrap="square">
            <a:spAutoFit/>
          </a:bodyPr>
          <a:lstStyle/>
          <a:p>
            <a:pPr>
              <a:defRPr sz="1400" b="1">
                <a:solidFill>
                  <a:srgbClr val="F43F5E"/>
                </a:solidFill>
                <a:latin typeface="Trebuchet MS"/>
              </a:defRPr>
            </a:pPr>
            <a:r>
              <a:t>L20  ·  -73.0 dBm</a:t>
            </a:r>
          </a:p>
          <a:p>
            <a:pPr>
              <a:spcBef>
                <a:spcPts val="200"/>
              </a:spcBef>
              <a:defRPr sz="950" b="1">
                <a:solidFill>
                  <a:srgbClr val="FFFFFF"/>
                </a:solidFill>
                <a:latin typeface="Liberation Mono"/>
              </a:defRPr>
            </a:pPr>
            <a:r>
              <a:t>Critical Corner</a:t>
            </a:r>
          </a:p>
          <a:p>
            <a:pPr>
              <a:spcBef>
                <a:spcPts val="200"/>
              </a:spcBef>
              <a:defRPr sz="950">
                <a:solidFill>
                  <a:srgbClr val="94A3B8"/>
                </a:solidFill>
                <a:latin typeface="Calibri"/>
              </a:defRPr>
            </a:pPr>
            <a:r>
              <a:t>Worst campus location; severe deficit (-71.0, -74.2, -73.8).</a:t>
            </a:r>
          </a:p>
        </p:txBody>
      </p:sp>
      <p:sp>
        <p:nvSpPr>
          <p:cNvPr id="19" name="Rectangle 18"/>
          <p:cNvSpPr/>
          <p:nvPr/>
        </p:nvSpPr>
        <p:spPr>
          <a:xfrm>
            <a:off x="731520" y="6400800"/>
            <a:ext cx="10728655" cy="12700"/>
          </a:xfrm>
          <a:prstGeom prst="rect">
            <a:avLst/>
          </a:prstGeom>
          <a:solidFill>
            <a:srgbClr val="2A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6446520"/>
            <a:ext cx="6400800" cy="274320"/>
          </a:xfrm>
          <a:prstGeom prst="rect">
            <a:avLst/>
          </a:prstGeom>
          <a:noFill/>
        </p:spPr>
        <p:txBody>
          <a:bodyPr wrap="none" lIns="0" tIns="0" rIns="0" bIns="0">
            <a:spAutoFit/>
          </a:bodyPr>
          <a:lstStyle/>
          <a:p>
            <a:pPr>
              <a:defRPr sz="950">
                <a:solidFill>
                  <a:srgbClr val="94A3B8"/>
                </a:solidFill>
                <a:latin typeface="Calibri"/>
              </a:defRPr>
            </a:pPr>
            <a:r>
              <a:t>UE25MA242A · MFAD 2026  |  Wi-FiScope: Campus Wi-Fi Signal Intelligence via Linear Algebra</a:t>
            </a:r>
          </a:p>
        </p:txBody>
      </p:sp>
      <p:sp>
        <p:nvSpPr>
          <p:cNvPr id="21" name="TextBox 20"/>
          <p:cNvSpPr txBox="1"/>
          <p:nvPr/>
        </p:nvSpPr>
        <p:spPr>
          <a:xfrm>
            <a:off x="9631375" y="6446520"/>
            <a:ext cx="1828800" cy="274320"/>
          </a:xfrm>
          <a:prstGeom prst="rect">
            <a:avLst/>
          </a:prstGeom>
          <a:noFill/>
        </p:spPr>
        <p:txBody>
          <a:bodyPr wrap="none" lIns="0" tIns="0" rIns="0" bIns="0">
            <a:spAutoFit/>
          </a:bodyPr>
          <a:lstStyle/>
          <a:p>
            <a:pPr algn="r">
              <a:defRPr sz="950" b="1">
                <a:solidFill>
                  <a:srgbClr val="00D2FF"/>
                </a:solidFill>
                <a:latin typeface="Liberation Mono"/>
              </a:defRPr>
            </a:pPr>
            <a:r>
              <a:t>08 / 11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2926080" cy="256032"/>
          </a:xfrm>
          <a:prstGeom prst="roundRect">
            <a:avLst/>
          </a:prstGeom>
          <a:solidFill>
            <a:srgbClr val="1C2B50"/>
          </a:solidFill>
          <a:ln w="12700">
            <a:solidFill>
              <a:srgbClr val="3B5288"/>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00D2FF"/>
                </a:solidFill>
                <a:latin typeface="Trebuchet MS"/>
              </a:defRPr>
            </a:pPr>
            <a:r>
              <a:t>08 · COVERAGE INTELLIGENCE</a:t>
            </a:r>
          </a:p>
        </p:txBody>
      </p:sp>
      <p:sp>
        <p:nvSpPr>
          <p:cNvPr id="3" name="TextBox 2"/>
          <p:cNvSpPr txBox="1"/>
          <p:nvPr/>
        </p:nvSpPr>
        <p:spPr>
          <a:xfrm>
            <a:off x="731520" y="621792"/>
            <a:ext cx="10728655" cy="694944"/>
          </a:xfrm>
          <a:prstGeom prst="rect">
            <a:avLst/>
          </a:prstGeom>
          <a:noFill/>
        </p:spPr>
        <p:txBody>
          <a:bodyPr wrap="square" lIns="0" tIns="0" rIns="0" bIns="0">
            <a:spAutoFit/>
          </a:bodyPr>
          <a:lstStyle/>
          <a:p>
            <a:pPr>
              <a:defRPr sz="2050" b="1">
                <a:solidFill>
                  <a:srgbClr val="FFFFFF"/>
                </a:solidFill>
                <a:latin typeface="Trebuchet MS"/>
              </a:defRPr>
            </a:pPr>
            <a:r>
              <a:t>Spatial Contour Surface Fuses Regression Plane with Empirical Survey Nodes</a:t>
            </a:r>
          </a:p>
        </p:txBody>
      </p:sp>
      <p:sp>
        <p:nvSpPr>
          <p:cNvPr id="4" name="TextBox 3"/>
          <p:cNvSpPr txBox="1"/>
          <p:nvPr/>
        </p:nvSpPr>
        <p:spPr>
          <a:xfrm>
            <a:off x="731520" y="1371600"/>
            <a:ext cx="10728655" cy="320040"/>
          </a:xfrm>
          <a:prstGeom prst="rect">
            <a:avLst/>
          </a:prstGeom>
          <a:noFill/>
        </p:spPr>
        <p:txBody>
          <a:bodyPr wrap="square" lIns="0" tIns="0" rIns="0" bIns="0">
            <a:spAutoFit/>
          </a:bodyPr>
          <a:lstStyle/>
          <a:p>
            <a:pPr>
              <a:defRPr sz="1150">
                <a:solidFill>
                  <a:srgbClr val="94A3B8"/>
                </a:solidFill>
                <a:latin typeface="Calibri"/>
              </a:defRPr>
            </a:pPr>
            <a:r>
              <a:t>Overlaying the least-squares regression gradient against measured nodes clearly highlights the northeast dead zone.</a:t>
            </a:r>
          </a:p>
        </p:txBody>
      </p:sp>
      <p:sp>
        <p:nvSpPr>
          <p:cNvPr id="5" name="Rounded Rectangle 4"/>
          <p:cNvSpPr/>
          <p:nvPr/>
        </p:nvSpPr>
        <p:spPr>
          <a:xfrm>
            <a:off x="731520" y="1810512"/>
            <a:ext cx="6217920" cy="4407408"/>
          </a:xfrm>
          <a:prstGeom prst="roundRect">
            <a:avLst/>
          </a:prstGeom>
          <a:solidFill>
            <a:srgbClr val="16223F"/>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overage_heatmap.png"/>
          <p:cNvPicPr>
            <a:picLocks noChangeAspect="1"/>
          </p:cNvPicPr>
          <p:nvPr/>
        </p:nvPicPr>
        <p:blipFill>
          <a:blip r:embed="rId3"/>
          <a:stretch>
            <a:fillRect/>
          </a:stretch>
        </p:blipFill>
        <p:spPr>
          <a:xfrm>
            <a:off x="868680" y="1920240"/>
            <a:ext cx="5943600" cy="4160520"/>
          </a:xfrm>
          <a:prstGeom prst="rect">
            <a:avLst/>
          </a:prstGeom>
        </p:spPr>
      </p:pic>
      <p:sp>
        <p:nvSpPr>
          <p:cNvPr id="7" name="Rounded Rectangle 6"/>
          <p:cNvSpPr/>
          <p:nvPr/>
        </p:nvSpPr>
        <p:spPr>
          <a:xfrm>
            <a:off x="7132320" y="1810512"/>
            <a:ext cx="4327855" cy="4407408"/>
          </a:xfrm>
          <a:prstGeom prst="roundRect">
            <a:avLst/>
          </a:prstGeom>
          <a:solidFill>
            <a:srgbClr val="16223F"/>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60920" y="1965960"/>
            <a:ext cx="3870655" cy="4023360"/>
          </a:xfrm>
          <a:prstGeom prst="rect">
            <a:avLst/>
          </a:prstGeom>
          <a:noFill/>
        </p:spPr>
        <p:txBody>
          <a:bodyPr wrap="square">
            <a:spAutoFit/>
          </a:bodyPr>
          <a:lstStyle/>
          <a:p>
            <a:pPr>
              <a:defRPr sz="1400" b="1">
                <a:solidFill>
                  <a:srgbClr val="00D2FF"/>
                </a:solidFill>
                <a:latin typeface="Trebuchet MS"/>
              </a:defRPr>
            </a:pPr>
            <a:r>
              <a:t>MAP COMPONENT SYNTHESIS</a:t>
            </a:r>
          </a:p>
          <a:p>
            <a:pPr>
              <a:spcBef>
                <a:spcPts val="600"/>
              </a:spcBef>
              <a:defRPr sz="1100" b="1">
                <a:solidFill>
                  <a:srgbClr val="00D2FF"/>
                </a:solidFill>
                <a:latin typeface="Trebuchet MS"/>
              </a:defRPr>
            </a:pPr>
            <a:r>
              <a:t>• Contour Gradient Surface: </a:t>
            </a:r>
            <a:r>
              <a:rPr sz="1050" b="0">
                <a:solidFill>
                  <a:srgbClr val="EBF0F7"/>
                </a:solidFill>
                <a:latin typeface="Calibri"/>
              </a:rPr>
              <a:t>Model-based continuous RSSI estimate computed from fitted spatial coefficients. Shows smooth directional path-loss.</a:t>
            </a:r>
          </a:p>
          <a:p>
            <a:pPr>
              <a:spcBef>
                <a:spcPts val="600"/>
              </a:spcBef>
              <a:defRPr sz="1100" b="1">
                <a:solidFill>
                  <a:srgbClr val="10B981"/>
                </a:solidFill>
                <a:latin typeface="Trebuchet MS"/>
              </a:defRPr>
            </a:pPr>
            <a:r>
              <a:t>• Discrete Survey Nodes (L01–L20): </a:t>
            </a:r>
            <a:r>
              <a:rPr sz="1050" b="0">
                <a:solidFill>
                  <a:srgbClr val="EBF0F7"/>
                </a:solidFill>
                <a:latin typeface="Calibri"/>
              </a:rPr>
              <a:t>Blue circles mark measured coordinates in local metres. L01 at bottom-left serves as baseline reference (-47.7 dBm).</a:t>
            </a:r>
          </a:p>
          <a:p>
            <a:pPr>
              <a:spcBef>
                <a:spcPts val="600"/>
              </a:spcBef>
              <a:defRPr sz="1100" b="1">
                <a:solidFill>
                  <a:srgbClr val="F43F5E"/>
                </a:solidFill>
                <a:latin typeface="Trebuchet MS"/>
              </a:defRPr>
            </a:pPr>
            <a:r>
              <a:t>• Dashed Contour Boundary (-67 dBm): </a:t>
            </a:r>
            <a:r>
              <a:rPr sz="1050" b="0">
                <a:solidFill>
                  <a:srgbClr val="EBF0F7"/>
                </a:solidFill>
                <a:latin typeface="Calibri"/>
              </a:rPr>
              <a:t>Iso-signal line demarcates the exact boundary separating acceptable coverage from degraded QoS.</a:t>
            </a:r>
          </a:p>
          <a:p>
            <a:pPr>
              <a:spcBef>
                <a:spcPts val="600"/>
              </a:spcBef>
              <a:defRPr sz="1100" b="1">
                <a:solidFill>
                  <a:srgbClr val="F43F5E"/>
                </a:solidFill>
                <a:latin typeface="Trebuchet MS"/>
              </a:defRPr>
            </a:pPr>
            <a:r>
              <a:t>• Northeast Dead-Zone Cluster: </a:t>
            </a:r>
            <a:r>
              <a:rPr sz="1050" b="0">
                <a:solidFill>
                  <a:srgbClr val="EBF0F7"/>
                </a:solidFill>
                <a:latin typeface="Calibri"/>
              </a:rPr>
              <a:t>Red-highlighted nodes (L14, L15, L19, L20) cluster together, identifying a physical shadow zone behind structural concrete.</a:t>
            </a:r>
          </a:p>
          <a:p>
            <a:pPr>
              <a:spcBef>
                <a:spcPts val="600"/>
              </a:spcBef>
              <a:defRPr sz="1100" b="1">
                <a:solidFill>
                  <a:srgbClr val="FBBF24"/>
                </a:solidFill>
                <a:latin typeface="Trebuchet MS"/>
              </a:defRPr>
            </a:pPr>
            <a:r>
              <a:t>• Actionable AP Optimization: </a:t>
            </a:r>
            <a:r>
              <a:rPr sz="1050" b="0">
                <a:solidFill>
                  <a:srgbClr val="EBF0F7"/>
                </a:solidFill>
                <a:latin typeface="Calibri"/>
              </a:rPr>
              <a:t>Provides campus IT with precise spatial coordinates to install a secondary ceiling-mounted AP at approx (45m, 35m).</a:t>
            </a:r>
          </a:p>
        </p:txBody>
      </p:sp>
      <p:sp>
        <p:nvSpPr>
          <p:cNvPr id="9" name="Rectangle 8"/>
          <p:cNvSpPr/>
          <p:nvPr/>
        </p:nvSpPr>
        <p:spPr>
          <a:xfrm>
            <a:off x="731520" y="6400800"/>
            <a:ext cx="10728655" cy="12700"/>
          </a:xfrm>
          <a:prstGeom prst="rect">
            <a:avLst/>
          </a:prstGeom>
          <a:solidFill>
            <a:srgbClr val="2A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446520"/>
            <a:ext cx="6400800" cy="274320"/>
          </a:xfrm>
          <a:prstGeom prst="rect">
            <a:avLst/>
          </a:prstGeom>
          <a:noFill/>
        </p:spPr>
        <p:txBody>
          <a:bodyPr wrap="none" lIns="0" tIns="0" rIns="0" bIns="0">
            <a:spAutoFit/>
          </a:bodyPr>
          <a:lstStyle/>
          <a:p>
            <a:pPr>
              <a:defRPr sz="950">
                <a:solidFill>
                  <a:srgbClr val="94A3B8"/>
                </a:solidFill>
                <a:latin typeface="Calibri"/>
              </a:defRPr>
            </a:pPr>
            <a:r>
              <a:t>UE25MA242A · MFAD 2026  |  Wi-FiScope: Campus Wi-Fi Signal Intelligence via Linear Algebra</a:t>
            </a:r>
          </a:p>
        </p:txBody>
      </p:sp>
      <p:sp>
        <p:nvSpPr>
          <p:cNvPr id="11" name="TextBox 10"/>
          <p:cNvSpPr txBox="1"/>
          <p:nvPr/>
        </p:nvSpPr>
        <p:spPr>
          <a:xfrm>
            <a:off x="9631375" y="6446520"/>
            <a:ext cx="1828800" cy="274320"/>
          </a:xfrm>
          <a:prstGeom prst="rect">
            <a:avLst/>
          </a:prstGeom>
          <a:noFill/>
        </p:spPr>
        <p:txBody>
          <a:bodyPr wrap="none" lIns="0" tIns="0" rIns="0" bIns="0">
            <a:spAutoFit/>
          </a:bodyPr>
          <a:lstStyle/>
          <a:p>
            <a:pPr algn="r">
              <a:defRPr sz="950" b="1">
                <a:solidFill>
                  <a:srgbClr val="00D2FF"/>
                </a:solidFill>
                <a:latin typeface="Liberation Mono"/>
              </a:defRPr>
            </a:pPr>
            <a:r>
              <a:t>09 / 11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2926080" cy="256032"/>
          </a:xfrm>
          <a:prstGeom prst="roundRect">
            <a:avLst/>
          </a:prstGeom>
          <a:solidFill>
            <a:srgbClr val="1C2B50"/>
          </a:solidFill>
          <a:ln w="12700">
            <a:solidFill>
              <a:srgbClr val="3B5288"/>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00D2FF"/>
                </a:solidFill>
                <a:latin typeface="Trebuchet MS"/>
              </a:defRPr>
            </a:pPr>
            <a:r>
              <a:t>09 · PATTERN ANALYSIS</a:t>
            </a:r>
          </a:p>
        </p:txBody>
      </p:sp>
      <p:sp>
        <p:nvSpPr>
          <p:cNvPr id="3" name="TextBox 2"/>
          <p:cNvSpPr txBox="1"/>
          <p:nvPr/>
        </p:nvSpPr>
        <p:spPr>
          <a:xfrm>
            <a:off x="731520" y="621792"/>
            <a:ext cx="10728655" cy="694944"/>
          </a:xfrm>
          <a:prstGeom prst="rect">
            <a:avLst/>
          </a:prstGeom>
          <a:noFill/>
        </p:spPr>
        <p:txBody>
          <a:bodyPr wrap="square" lIns="0" tIns="0" rIns="0" bIns="0">
            <a:spAutoFit/>
          </a:bodyPr>
          <a:lstStyle/>
          <a:p>
            <a:pPr>
              <a:defRPr sz="2050" b="1">
                <a:solidFill>
                  <a:srgbClr val="FFFFFF"/>
                </a:solidFill>
                <a:latin typeface="Trebuchet MS"/>
              </a:defRPr>
            </a:pPr>
            <a:r>
              <a:t>Eigen Decomposition Identifies 99.4% of Total Variance in Global Diurnal Shifts</a:t>
            </a:r>
          </a:p>
        </p:txBody>
      </p:sp>
      <p:sp>
        <p:nvSpPr>
          <p:cNvPr id="4" name="TextBox 3"/>
          <p:cNvSpPr txBox="1"/>
          <p:nvPr/>
        </p:nvSpPr>
        <p:spPr>
          <a:xfrm>
            <a:off x="731520" y="1371600"/>
            <a:ext cx="10728655" cy="320040"/>
          </a:xfrm>
          <a:prstGeom prst="rect">
            <a:avLst/>
          </a:prstGeom>
          <a:noFill/>
        </p:spPr>
        <p:txBody>
          <a:bodyPr wrap="square" lIns="0" tIns="0" rIns="0" bIns="0">
            <a:spAutoFit/>
          </a:bodyPr>
          <a:lstStyle/>
          <a:p>
            <a:pPr>
              <a:defRPr sz="1150">
                <a:solidFill>
                  <a:srgbClr val="94A3B8"/>
                </a:solidFill>
                <a:latin typeface="Calibri"/>
              </a:defRPr>
            </a:pPr>
            <a:r>
              <a:t>Principal component analysis of the temporal covariance matrix decomposes signal dynamics into dominant modes.</a:t>
            </a:r>
          </a:p>
        </p:txBody>
      </p:sp>
      <p:sp>
        <p:nvSpPr>
          <p:cNvPr id="5" name="Rounded Rectangle 4"/>
          <p:cNvSpPr/>
          <p:nvPr/>
        </p:nvSpPr>
        <p:spPr>
          <a:xfrm>
            <a:off x="731520" y="1810512"/>
            <a:ext cx="5303520" cy="4407408"/>
          </a:xfrm>
          <a:prstGeom prst="roundRect">
            <a:avLst/>
          </a:prstGeom>
          <a:solidFill>
            <a:srgbClr val="16223F"/>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eigen_variance.png"/>
          <p:cNvPicPr>
            <a:picLocks noChangeAspect="1"/>
          </p:cNvPicPr>
          <p:nvPr/>
        </p:nvPicPr>
        <p:blipFill>
          <a:blip r:embed="rId3"/>
          <a:stretch>
            <a:fillRect/>
          </a:stretch>
        </p:blipFill>
        <p:spPr>
          <a:xfrm>
            <a:off x="914400" y="2011680"/>
            <a:ext cx="4937760" cy="3108960"/>
          </a:xfrm>
          <a:prstGeom prst="rect">
            <a:avLst/>
          </a:prstGeom>
        </p:spPr>
      </p:pic>
      <p:sp>
        <p:nvSpPr>
          <p:cNvPr id="7" name="TextBox 6"/>
          <p:cNvSpPr txBox="1"/>
          <p:nvPr/>
        </p:nvSpPr>
        <p:spPr>
          <a:xfrm>
            <a:off x="914400" y="5257800"/>
            <a:ext cx="4937760" cy="822960"/>
          </a:xfrm>
          <a:prstGeom prst="rect">
            <a:avLst/>
          </a:prstGeom>
          <a:noFill/>
        </p:spPr>
        <p:txBody>
          <a:bodyPr wrap="square">
            <a:spAutoFit/>
          </a:bodyPr>
          <a:lstStyle/>
          <a:p>
            <a:pPr>
              <a:defRPr sz="1100" b="1">
                <a:solidFill>
                  <a:srgbClr val="FFFFFF"/>
                </a:solidFill>
                <a:latin typeface="Trebuchet MS"/>
              </a:defRPr>
            </a:pPr>
            <a:r>
              <a:t>Mathematical Role of Eigensystem:</a:t>
            </a:r>
          </a:p>
          <a:p>
            <a:pPr>
              <a:spcBef>
                <a:spcPts val="200"/>
              </a:spcBef>
              <a:defRPr sz="1000">
                <a:solidFill>
                  <a:srgbClr val="94A3B8"/>
                </a:solidFill>
                <a:latin typeface="Calibri"/>
              </a:defRPr>
            </a:pPr>
            <a:r>
              <a:t>Eigenvalue λᵢ measures relative variance captured along principal axis i. Eigenvector vᵢ defines the characteristic temporal loading direction across time periods.</a:t>
            </a:r>
          </a:p>
        </p:txBody>
      </p:sp>
      <p:sp>
        <p:nvSpPr>
          <p:cNvPr id="8" name="Rounded Rectangle 7"/>
          <p:cNvSpPr/>
          <p:nvPr/>
        </p:nvSpPr>
        <p:spPr>
          <a:xfrm>
            <a:off x="6263640" y="1810512"/>
            <a:ext cx="5193792" cy="4407408"/>
          </a:xfrm>
          <a:prstGeom prst="roundRect">
            <a:avLst/>
          </a:prstGeom>
          <a:solidFill>
            <a:srgbClr val="16223F"/>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1965960"/>
            <a:ext cx="4736592" cy="4023360"/>
          </a:xfrm>
          <a:prstGeom prst="rect">
            <a:avLst/>
          </a:prstGeom>
          <a:noFill/>
        </p:spPr>
        <p:txBody>
          <a:bodyPr wrap="square">
            <a:spAutoFit/>
          </a:bodyPr>
          <a:lstStyle/>
          <a:p>
            <a:pPr>
              <a:defRPr sz="1400" b="1">
                <a:solidFill>
                  <a:srgbClr val="00D2FF"/>
                </a:solidFill>
                <a:latin typeface="Trebuchet MS"/>
              </a:defRPr>
            </a:pPr>
            <a:r>
              <a:t>PHYSICAL INTERPRETATION OF COMPONENTS</a:t>
            </a:r>
          </a:p>
          <a:p>
            <a:pPr>
              <a:spcBef>
                <a:spcPts val="800"/>
              </a:spcBef>
              <a:defRPr sz="950" b="1">
                <a:solidFill>
                  <a:srgbClr val="00D2FF"/>
                </a:solidFill>
                <a:latin typeface="Liberation Mono"/>
              </a:defRPr>
            </a:pPr>
            <a:r>
              <a:t>COMPONENT 1: 99.4% OF VARIANCE</a:t>
            </a:r>
          </a:p>
          <a:p>
            <a:pPr>
              <a:spcBef>
                <a:spcPts val="100"/>
              </a:spcBef>
              <a:defRPr sz="1300" b="1">
                <a:solidFill>
                  <a:srgbClr val="FFFFFF"/>
                </a:solidFill>
                <a:latin typeface="Trebuchet MS"/>
              </a:defRPr>
            </a:pPr>
            <a:r>
              <a:t>Global Diurnal Synchrony</a:t>
            </a:r>
          </a:p>
          <a:p>
            <a:pPr>
              <a:spcBef>
                <a:spcPts val="200"/>
              </a:spcBef>
              <a:defRPr sz="1050">
                <a:solidFill>
                  <a:srgbClr val="EBF0F7"/>
                </a:solidFill>
                <a:latin typeface="Calibri"/>
              </a:defRPr>
            </a:pPr>
            <a:r>
              <a:t>Captures building-wide signal modulation. As student occupancy and aggregate network traffic ramp up between morning and afternoon, all nodes experience a synchronized shift.</a:t>
            </a:r>
          </a:p>
          <a:p>
            <a:pPr>
              <a:spcBef>
                <a:spcPts val="800"/>
              </a:spcBef>
              <a:defRPr sz="950" b="1">
                <a:solidFill>
                  <a:srgbClr val="38BDF8"/>
                </a:solidFill>
                <a:latin typeface="Liberation Mono"/>
              </a:defRPr>
            </a:pPr>
            <a:r>
              <a:t>COMPONENT 2: 0.5% OF VARIANCE</a:t>
            </a:r>
          </a:p>
          <a:p>
            <a:pPr>
              <a:spcBef>
                <a:spcPts val="100"/>
              </a:spcBef>
              <a:defRPr sz="1300" b="1">
                <a:solidFill>
                  <a:srgbClr val="FFFFFF"/>
                </a:solidFill>
                <a:latin typeface="Trebuchet MS"/>
              </a:defRPr>
            </a:pPr>
            <a:r>
              <a:t>Localized Spatial Asymmetry</a:t>
            </a:r>
          </a:p>
          <a:p>
            <a:pPr>
              <a:spcBef>
                <a:spcPts val="200"/>
              </a:spcBef>
              <a:defRPr sz="1050">
                <a:solidFill>
                  <a:srgbClr val="EBF0F7"/>
                </a:solidFill>
                <a:latin typeface="Calibri"/>
              </a:defRPr>
            </a:pPr>
            <a:r>
              <a:t>Captures minor localized variance, such as differential traffic between east-facing and west-facing labs as class schedules rotate.</a:t>
            </a:r>
          </a:p>
          <a:p>
            <a:pPr>
              <a:spcBef>
                <a:spcPts val="800"/>
              </a:spcBef>
              <a:defRPr sz="950" b="1">
                <a:solidFill>
                  <a:srgbClr val="94A3B8"/>
                </a:solidFill>
                <a:latin typeface="Liberation Mono"/>
              </a:defRPr>
            </a:pPr>
            <a:r>
              <a:t>COMPONENT 3: 0.1% OF VARIANCE</a:t>
            </a:r>
          </a:p>
          <a:p>
            <a:pPr>
              <a:spcBef>
                <a:spcPts val="100"/>
              </a:spcBef>
              <a:defRPr sz="1300" b="1">
                <a:solidFill>
                  <a:srgbClr val="FFFFFF"/>
                </a:solidFill>
                <a:latin typeface="Trebuchet MS"/>
              </a:defRPr>
            </a:pPr>
            <a:r>
              <a:t>Stochastic Measurement Residual</a:t>
            </a:r>
          </a:p>
          <a:p>
            <a:pPr>
              <a:spcBef>
                <a:spcPts val="200"/>
              </a:spcBef>
              <a:defRPr sz="1050">
                <a:solidFill>
                  <a:srgbClr val="EBF0F7"/>
                </a:solidFill>
                <a:latin typeface="Calibri"/>
              </a:defRPr>
            </a:pPr>
            <a:r>
              <a:t>Random high-frequency noise, temporary walking obstacles, and device antenna calibration differences.</a:t>
            </a:r>
          </a:p>
          <a:p>
            <a:pPr>
              <a:spcBef>
                <a:spcPts val="1000"/>
              </a:spcBef>
              <a:defRPr sz="900">
                <a:solidFill>
                  <a:srgbClr val="FBBF24"/>
                </a:solidFill>
                <a:latin typeface="Liberation Mono"/>
              </a:defRPr>
            </a:pPr>
            <a:r>
              <a:t>Note: Interpret physical causation from empirical survey data; do not assume external environmental drivers beforehand.</a:t>
            </a:r>
          </a:p>
        </p:txBody>
      </p:sp>
      <p:sp>
        <p:nvSpPr>
          <p:cNvPr id="10" name="Rectangle 9"/>
          <p:cNvSpPr/>
          <p:nvPr/>
        </p:nvSpPr>
        <p:spPr>
          <a:xfrm>
            <a:off x="731520" y="6400800"/>
            <a:ext cx="10728655" cy="12700"/>
          </a:xfrm>
          <a:prstGeom prst="rect">
            <a:avLst/>
          </a:prstGeom>
          <a:solidFill>
            <a:srgbClr val="2A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6446520"/>
            <a:ext cx="6400800" cy="274320"/>
          </a:xfrm>
          <a:prstGeom prst="rect">
            <a:avLst/>
          </a:prstGeom>
          <a:noFill/>
        </p:spPr>
        <p:txBody>
          <a:bodyPr wrap="none" lIns="0" tIns="0" rIns="0" bIns="0">
            <a:spAutoFit/>
          </a:bodyPr>
          <a:lstStyle/>
          <a:p>
            <a:pPr>
              <a:defRPr sz="950">
                <a:solidFill>
                  <a:srgbClr val="94A3B8"/>
                </a:solidFill>
                <a:latin typeface="Calibri"/>
              </a:defRPr>
            </a:pPr>
            <a:r>
              <a:t>UE25MA242A · MFAD 2026  |  Wi-FiScope: Campus Wi-Fi Signal Intelligence via Linear Algebra</a:t>
            </a:r>
          </a:p>
        </p:txBody>
      </p:sp>
      <p:sp>
        <p:nvSpPr>
          <p:cNvPr id="12" name="TextBox 11"/>
          <p:cNvSpPr txBox="1"/>
          <p:nvPr/>
        </p:nvSpPr>
        <p:spPr>
          <a:xfrm>
            <a:off x="9631375" y="6446520"/>
            <a:ext cx="1828800" cy="274320"/>
          </a:xfrm>
          <a:prstGeom prst="rect">
            <a:avLst/>
          </a:prstGeom>
          <a:noFill/>
        </p:spPr>
        <p:txBody>
          <a:bodyPr wrap="none" lIns="0" tIns="0" rIns="0" bIns="0">
            <a:spAutoFit/>
          </a:bodyPr>
          <a:lstStyle/>
          <a:p>
            <a:pPr algn="r">
              <a:defRPr sz="950" b="1">
                <a:solidFill>
                  <a:srgbClr val="00D2FF"/>
                </a:solidFill>
                <a:latin typeface="Liberation Mono"/>
              </a:defRPr>
            </a:pPr>
            <a:r>
              <a:t>10 / 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2926080" cy="256032"/>
          </a:xfrm>
          <a:prstGeom prst="roundRect">
            <a:avLst/>
          </a:prstGeom>
          <a:solidFill>
            <a:srgbClr val="1C2B50"/>
          </a:solidFill>
          <a:ln w="12700">
            <a:solidFill>
              <a:srgbClr val="3B5288"/>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00D2FF"/>
                </a:solidFill>
                <a:latin typeface="Trebuchet MS"/>
              </a:defRPr>
            </a:pPr>
            <a:r>
              <a:t>10 · SYSTEM ARCHITECTURE</a:t>
            </a:r>
          </a:p>
        </p:txBody>
      </p:sp>
      <p:sp>
        <p:nvSpPr>
          <p:cNvPr id="3" name="TextBox 2"/>
          <p:cNvSpPr txBox="1"/>
          <p:nvPr/>
        </p:nvSpPr>
        <p:spPr>
          <a:xfrm>
            <a:off x="731520" y="621792"/>
            <a:ext cx="10728655" cy="694944"/>
          </a:xfrm>
          <a:prstGeom prst="rect">
            <a:avLst/>
          </a:prstGeom>
          <a:noFill/>
        </p:spPr>
        <p:txBody>
          <a:bodyPr wrap="square" lIns="0" tIns="0" rIns="0" bIns="0">
            <a:spAutoFit/>
          </a:bodyPr>
          <a:lstStyle/>
          <a:p>
            <a:pPr>
              <a:defRPr sz="2050" b="1">
                <a:solidFill>
                  <a:srgbClr val="FFFFFF"/>
                </a:solidFill>
                <a:latin typeface="Trebuchet MS"/>
              </a:defRPr>
            </a:pPr>
            <a:r>
              <a:t>Wi-FiScope Translates Raw Physical RSSI into Grounded Campus Spatial Intelligence</a:t>
            </a:r>
          </a:p>
        </p:txBody>
      </p:sp>
      <p:sp>
        <p:nvSpPr>
          <p:cNvPr id="4" name="TextBox 3"/>
          <p:cNvSpPr txBox="1"/>
          <p:nvPr/>
        </p:nvSpPr>
        <p:spPr>
          <a:xfrm>
            <a:off x="731520" y="1371600"/>
            <a:ext cx="10728655" cy="320040"/>
          </a:xfrm>
          <a:prstGeom prst="rect">
            <a:avLst/>
          </a:prstGeom>
          <a:noFill/>
        </p:spPr>
        <p:txBody>
          <a:bodyPr wrap="square" lIns="0" tIns="0" rIns="0" bIns="0">
            <a:spAutoFit/>
          </a:bodyPr>
          <a:lstStyle/>
          <a:p>
            <a:pPr>
              <a:defRPr sz="1150">
                <a:solidFill>
                  <a:srgbClr val="94A3B8"/>
                </a:solidFill>
                <a:latin typeface="Calibri"/>
              </a:defRPr>
            </a:pPr>
            <a:r>
              <a:t>An explainable linear algebra framework bridging empirical RF measurements and actionable network planning.</a:t>
            </a:r>
          </a:p>
        </p:txBody>
      </p:sp>
      <p:sp>
        <p:nvSpPr>
          <p:cNvPr id="5" name="Rounded Rectangle 4"/>
          <p:cNvSpPr/>
          <p:nvPr/>
        </p:nvSpPr>
        <p:spPr>
          <a:xfrm>
            <a:off x="731520" y="1810512"/>
            <a:ext cx="10728655" cy="1600200"/>
          </a:xfrm>
          <a:prstGeom prst="roundRect">
            <a:avLst/>
          </a:prstGeom>
          <a:solidFill>
            <a:srgbClr val="1C2B50"/>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74519"/>
            <a:ext cx="10271455" cy="320040"/>
          </a:xfrm>
          <a:prstGeom prst="rect">
            <a:avLst/>
          </a:prstGeom>
          <a:noFill/>
        </p:spPr>
        <p:txBody>
          <a:bodyPr wrap="none">
            <a:spAutoFit/>
          </a:bodyPr>
          <a:lstStyle/>
          <a:p>
            <a:pPr>
              <a:defRPr sz="1200" b="1">
                <a:solidFill>
                  <a:srgbClr val="00D2FF"/>
                </a:solidFill>
                <a:latin typeface="Trebuchet MS"/>
              </a:defRPr>
            </a:pPr>
            <a:r>
              <a:t>END-TO-END MATHEMATICAL WORKFLOW PIPELINE</a:t>
            </a:r>
          </a:p>
        </p:txBody>
      </p:sp>
      <p:sp>
        <p:nvSpPr>
          <p:cNvPr id="7" name="Rounded Rectangle 6"/>
          <p:cNvSpPr/>
          <p:nvPr/>
        </p:nvSpPr>
        <p:spPr>
          <a:xfrm>
            <a:off x="960120" y="2331720"/>
            <a:ext cx="1078992" cy="868680"/>
          </a:xfrm>
          <a:prstGeom prst="roundRect">
            <a:avLst/>
          </a:prstGeom>
          <a:solidFill>
            <a:srgbClr val="16223F"/>
          </a:solidFill>
          <a:ln w="15240">
            <a:solidFill>
              <a:srgbClr val="3B52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377440"/>
            <a:ext cx="987552" cy="777240"/>
          </a:xfrm>
          <a:prstGeom prst="rect">
            <a:avLst/>
          </a:prstGeom>
          <a:noFill/>
        </p:spPr>
        <p:txBody>
          <a:bodyPr wrap="square">
            <a:spAutoFit/>
          </a:bodyPr>
          <a:lstStyle/>
          <a:p>
            <a:pPr algn="ctr">
              <a:defRPr sz="1050" b="1">
                <a:solidFill>
                  <a:srgbClr val="FBBF24"/>
                </a:solidFill>
                <a:latin typeface="Trebuchet MS"/>
              </a:defRPr>
            </a:pPr>
            <a:r>
              <a:t>01. Survey</a:t>
            </a:r>
          </a:p>
          <a:p>
            <a:pPr algn="ctr">
              <a:spcBef>
                <a:spcPts val="400"/>
              </a:spcBef>
              <a:defRPr sz="900" b="1">
                <a:solidFill>
                  <a:srgbClr val="FFFFFF"/>
                </a:solidFill>
                <a:latin typeface="Liberation Mono"/>
              </a:defRPr>
            </a:pPr>
            <a:r>
              <a:t>20 × 3 Readings</a:t>
            </a:r>
          </a:p>
        </p:txBody>
      </p:sp>
      <p:sp>
        <p:nvSpPr>
          <p:cNvPr id="9" name="Rounded Rectangle 8"/>
          <p:cNvSpPr/>
          <p:nvPr/>
        </p:nvSpPr>
        <p:spPr>
          <a:xfrm>
            <a:off x="2130552" y="2331720"/>
            <a:ext cx="1078992" cy="868680"/>
          </a:xfrm>
          <a:prstGeom prst="roundRect">
            <a:avLst/>
          </a:prstGeom>
          <a:solidFill>
            <a:srgbClr val="16223F"/>
          </a:solidFill>
          <a:ln w="15240">
            <a:solidFill>
              <a:srgbClr val="3B52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176272" y="2377440"/>
            <a:ext cx="987552" cy="777240"/>
          </a:xfrm>
          <a:prstGeom prst="rect">
            <a:avLst/>
          </a:prstGeom>
          <a:noFill/>
        </p:spPr>
        <p:txBody>
          <a:bodyPr wrap="square">
            <a:spAutoFit/>
          </a:bodyPr>
          <a:lstStyle/>
          <a:p>
            <a:pPr algn="ctr">
              <a:defRPr sz="1050" b="1">
                <a:solidFill>
                  <a:srgbClr val="FBBF24"/>
                </a:solidFill>
                <a:latin typeface="Trebuchet MS"/>
              </a:defRPr>
            </a:pPr>
            <a:r>
              <a:t>02. Matrix</a:t>
            </a:r>
          </a:p>
          <a:p>
            <a:pPr algn="ctr">
              <a:spcBef>
                <a:spcPts val="400"/>
              </a:spcBef>
              <a:defRPr sz="900" b="1">
                <a:solidFill>
                  <a:srgbClr val="FFFFFF"/>
                </a:solidFill>
                <a:latin typeface="Liberation Mono"/>
              </a:defRPr>
            </a:pPr>
            <a:r>
              <a:t>A ∈ ℝ²⁰ˣ³</a:t>
            </a:r>
          </a:p>
        </p:txBody>
      </p:sp>
      <p:sp>
        <p:nvSpPr>
          <p:cNvPr id="11" name="Rounded Rectangle 10"/>
          <p:cNvSpPr/>
          <p:nvPr/>
        </p:nvSpPr>
        <p:spPr>
          <a:xfrm>
            <a:off x="3300984" y="2331720"/>
            <a:ext cx="1078992" cy="868680"/>
          </a:xfrm>
          <a:prstGeom prst="roundRect">
            <a:avLst/>
          </a:prstGeom>
          <a:solidFill>
            <a:srgbClr val="16223F"/>
          </a:solidFill>
          <a:ln w="15240">
            <a:solidFill>
              <a:srgbClr val="3B52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46704" y="2377440"/>
            <a:ext cx="987552" cy="777240"/>
          </a:xfrm>
          <a:prstGeom prst="rect">
            <a:avLst/>
          </a:prstGeom>
          <a:noFill/>
        </p:spPr>
        <p:txBody>
          <a:bodyPr wrap="square">
            <a:spAutoFit/>
          </a:bodyPr>
          <a:lstStyle/>
          <a:p>
            <a:pPr algn="ctr">
              <a:defRPr sz="1050" b="1">
                <a:solidFill>
                  <a:srgbClr val="FBBF24"/>
                </a:solidFill>
                <a:latin typeface="Trebuchet MS"/>
              </a:defRPr>
            </a:pPr>
            <a:r>
              <a:t>03. Vector</a:t>
            </a:r>
          </a:p>
          <a:p>
            <a:pPr algn="ctr">
              <a:spcBef>
                <a:spcPts val="400"/>
              </a:spcBef>
              <a:defRPr sz="900" b="1">
                <a:solidFill>
                  <a:srgbClr val="FFFFFF"/>
                </a:solidFill>
                <a:latin typeface="Liberation Mono"/>
              </a:defRPr>
            </a:pPr>
            <a:r>
              <a:t>c = x − x̄</a:t>
            </a:r>
          </a:p>
        </p:txBody>
      </p:sp>
      <p:sp>
        <p:nvSpPr>
          <p:cNvPr id="13" name="Rounded Rectangle 12"/>
          <p:cNvSpPr/>
          <p:nvPr/>
        </p:nvSpPr>
        <p:spPr>
          <a:xfrm>
            <a:off x="4471416" y="2331720"/>
            <a:ext cx="1078992" cy="868680"/>
          </a:xfrm>
          <a:prstGeom prst="roundRect">
            <a:avLst/>
          </a:prstGeom>
          <a:solidFill>
            <a:srgbClr val="16223F"/>
          </a:solidFill>
          <a:ln w="15240">
            <a:solidFill>
              <a:srgbClr val="3B52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17136" y="2377440"/>
            <a:ext cx="987552" cy="777240"/>
          </a:xfrm>
          <a:prstGeom prst="rect">
            <a:avLst/>
          </a:prstGeom>
          <a:noFill/>
        </p:spPr>
        <p:txBody>
          <a:bodyPr wrap="square">
            <a:spAutoFit/>
          </a:bodyPr>
          <a:lstStyle/>
          <a:p>
            <a:pPr algn="ctr">
              <a:defRPr sz="1050" b="1">
                <a:solidFill>
                  <a:srgbClr val="FBBF24"/>
                </a:solidFill>
                <a:latin typeface="Trebuchet MS"/>
              </a:defRPr>
            </a:pPr>
            <a:r>
              <a:t>04. Unit Norm</a:t>
            </a:r>
          </a:p>
          <a:p>
            <a:pPr algn="ctr">
              <a:spcBef>
                <a:spcPts val="400"/>
              </a:spcBef>
              <a:defRPr sz="900" b="1">
                <a:solidFill>
                  <a:srgbClr val="FFFFFF"/>
                </a:solidFill>
                <a:latin typeface="Liberation Mono"/>
              </a:defRPr>
            </a:pPr>
            <a:r>
              <a:t>x̂ = c / ‖c‖₂</a:t>
            </a:r>
          </a:p>
        </p:txBody>
      </p:sp>
      <p:sp>
        <p:nvSpPr>
          <p:cNvPr id="15" name="Rounded Rectangle 14"/>
          <p:cNvSpPr/>
          <p:nvPr/>
        </p:nvSpPr>
        <p:spPr>
          <a:xfrm>
            <a:off x="5641848" y="2331720"/>
            <a:ext cx="1078992" cy="868680"/>
          </a:xfrm>
          <a:prstGeom prst="roundRect">
            <a:avLst/>
          </a:prstGeom>
          <a:solidFill>
            <a:srgbClr val="16223F"/>
          </a:solidFill>
          <a:ln w="15240">
            <a:solidFill>
              <a:srgbClr val="3B52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687568" y="2377440"/>
            <a:ext cx="987552" cy="777240"/>
          </a:xfrm>
          <a:prstGeom prst="rect">
            <a:avLst/>
          </a:prstGeom>
          <a:noFill/>
        </p:spPr>
        <p:txBody>
          <a:bodyPr wrap="square">
            <a:spAutoFit/>
          </a:bodyPr>
          <a:lstStyle/>
          <a:p>
            <a:pPr algn="ctr">
              <a:defRPr sz="1050" b="1">
                <a:solidFill>
                  <a:srgbClr val="FBBF24"/>
                </a:solidFill>
                <a:latin typeface="Trebuchet MS"/>
              </a:defRPr>
            </a:pPr>
            <a:r>
              <a:t>05. Cosine</a:t>
            </a:r>
          </a:p>
          <a:p>
            <a:pPr algn="ctr">
              <a:spcBef>
                <a:spcPts val="400"/>
              </a:spcBef>
              <a:defRPr sz="900" b="1">
                <a:solidFill>
                  <a:srgbClr val="FFFFFF"/>
                </a:solidFill>
                <a:latin typeface="Liberation Mono"/>
              </a:defRPr>
            </a:pPr>
            <a:r>
              <a:t>cos(θ) = û · v̂</a:t>
            </a:r>
          </a:p>
        </p:txBody>
      </p:sp>
      <p:sp>
        <p:nvSpPr>
          <p:cNvPr id="17" name="Rounded Rectangle 16"/>
          <p:cNvSpPr/>
          <p:nvPr/>
        </p:nvSpPr>
        <p:spPr>
          <a:xfrm>
            <a:off x="6812280" y="2331720"/>
            <a:ext cx="1078992" cy="868680"/>
          </a:xfrm>
          <a:prstGeom prst="roundRect">
            <a:avLst/>
          </a:prstGeom>
          <a:solidFill>
            <a:srgbClr val="16223F"/>
          </a:solidFill>
          <a:ln w="15240">
            <a:solidFill>
              <a:srgbClr val="3B52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0" y="2377440"/>
            <a:ext cx="987552" cy="777240"/>
          </a:xfrm>
          <a:prstGeom prst="rect">
            <a:avLst/>
          </a:prstGeom>
          <a:noFill/>
        </p:spPr>
        <p:txBody>
          <a:bodyPr wrap="square">
            <a:spAutoFit/>
          </a:bodyPr>
          <a:lstStyle/>
          <a:p>
            <a:pPr algn="ctr">
              <a:defRPr sz="1050" b="1">
                <a:solidFill>
                  <a:srgbClr val="FBBF24"/>
                </a:solidFill>
                <a:latin typeface="Trebuchet MS"/>
              </a:defRPr>
            </a:pPr>
            <a:r>
              <a:t>06. Regress</a:t>
            </a:r>
          </a:p>
          <a:p>
            <a:pPr algn="ctr">
              <a:spcBef>
                <a:spcPts val="400"/>
              </a:spcBef>
              <a:defRPr sz="900" b="1">
                <a:solidFill>
                  <a:srgbClr val="FFFFFF"/>
                </a:solidFill>
                <a:latin typeface="Liberation Mono"/>
              </a:defRPr>
            </a:pPr>
            <a:r>
              <a:t>RSSI ≈ β₀+β₁x+β₂y</a:t>
            </a:r>
          </a:p>
        </p:txBody>
      </p:sp>
      <p:sp>
        <p:nvSpPr>
          <p:cNvPr id="19" name="Rounded Rectangle 18"/>
          <p:cNvSpPr/>
          <p:nvPr/>
        </p:nvSpPr>
        <p:spPr>
          <a:xfrm>
            <a:off x="7982712" y="2331720"/>
            <a:ext cx="1078992" cy="868680"/>
          </a:xfrm>
          <a:prstGeom prst="roundRect">
            <a:avLst/>
          </a:prstGeom>
          <a:solidFill>
            <a:srgbClr val="16223F"/>
          </a:solidFill>
          <a:ln w="15240">
            <a:solidFill>
              <a:srgbClr val="3B52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28432" y="2377440"/>
            <a:ext cx="987552" cy="777240"/>
          </a:xfrm>
          <a:prstGeom prst="rect">
            <a:avLst/>
          </a:prstGeom>
          <a:noFill/>
        </p:spPr>
        <p:txBody>
          <a:bodyPr wrap="square">
            <a:spAutoFit/>
          </a:bodyPr>
          <a:lstStyle/>
          <a:p>
            <a:pPr algn="ctr">
              <a:defRPr sz="1050" b="1">
                <a:solidFill>
                  <a:srgbClr val="FBBF24"/>
                </a:solidFill>
                <a:latin typeface="Trebuchet MS"/>
              </a:defRPr>
            </a:pPr>
            <a:r>
              <a:t>07. Validate</a:t>
            </a:r>
          </a:p>
          <a:p>
            <a:pPr algn="ctr">
              <a:spcBef>
                <a:spcPts val="400"/>
              </a:spcBef>
              <a:defRPr sz="900" b="1">
                <a:solidFill>
                  <a:srgbClr val="FFFFFF"/>
                </a:solidFill>
                <a:latin typeface="Liberation Mono"/>
              </a:defRPr>
            </a:pPr>
            <a:r>
              <a:t>MAE = 2.45 dB</a:t>
            </a:r>
          </a:p>
        </p:txBody>
      </p:sp>
      <p:sp>
        <p:nvSpPr>
          <p:cNvPr id="21" name="Rounded Rectangle 20"/>
          <p:cNvSpPr/>
          <p:nvPr/>
        </p:nvSpPr>
        <p:spPr>
          <a:xfrm>
            <a:off x="9153144" y="2331720"/>
            <a:ext cx="1078992" cy="868680"/>
          </a:xfrm>
          <a:prstGeom prst="roundRect">
            <a:avLst/>
          </a:prstGeom>
          <a:solidFill>
            <a:srgbClr val="16223F"/>
          </a:solidFill>
          <a:ln w="15240">
            <a:solidFill>
              <a:srgbClr val="3B52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98864" y="2377440"/>
            <a:ext cx="987552" cy="777240"/>
          </a:xfrm>
          <a:prstGeom prst="rect">
            <a:avLst/>
          </a:prstGeom>
          <a:noFill/>
        </p:spPr>
        <p:txBody>
          <a:bodyPr wrap="square">
            <a:spAutoFit/>
          </a:bodyPr>
          <a:lstStyle/>
          <a:p>
            <a:pPr algn="ctr">
              <a:defRPr sz="1050" b="1">
                <a:solidFill>
                  <a:srgbClr val="FBBF24"/>
                </a:solidFill>
                <a:latin typeface="Trebuchet MS"/>
              </a:defRPr>
            </a:pPr>
            <a:r>
              <a:t>08. Dead-Zone</a:t>
            </a:r>
          </a:p>
          <a:p>
            <a:pPr algn="ctr">
              <a:spcBef>
                <a:spcPts val="400"/>
              </a:spcBef>
              <a:defRPr sz="900" b="1">
                <a:solidFill>
                  <a:srgbClr val="FFFFFF"/>
                </a:solidFill>
                <a:latin typeface="Liberation Mono"/>
              </a:defRPr>
            </a:pPr>
            <a:r>
              <a:t>Dual Rule</a:t>
            </a:r>
          </a:p>
        </p:txBody>
      </p:sp>
      <p:sp>
        <p:nvSpPr>
          <p:cNvPr id="23" name="Rounded Rectangle 22"/>
          <p:cNvSpPr/>
          <p:nvPr/>
        </p:nvSpPr>
        <p:spPr>
          <a:xfrm>
            <a:off x="10323576" y="2331720"/>
            <a:ext cx="1078992" cy="868680"/>
          </a:xfrm>
          <a:prstGeom prst="roundRect">
            <a:avLst/>
          </a:prstGeom>
          <a:solidFill>
            <a:srgbClr val="16223F"/>
          </a:solidFill>
          <a:ln w="15240">
            <a:solidFill>
              <a:srgbClr val="3B52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369296" y="2377440"/>
            <a:ext cx="987552" cy="777240"/>
          </a:xfrm>
          <a:prstGeom prst="rect">
            <a:avLst/>
          </a:prstGeom>
          <a:noFill/>
        </p:spPr>
        <p:txBody>
          <a:bodyPr wrap="square">
            <a:spAutoFit/>
          </a:bodyPr>
          <a:lstStyle/>
          <a:p>
            <a:pPr algn="ctr">
              <a:defRPr sz="1050" b="1">
                <a:solidFill>
                  <a:srgbClr val="FBBF24"/>
                </a:solidFill>
                <a:latin typeface="Trebuchet MS"/>
              </a:defRPr>
            </a:pPr>
            <a:r>
              <a:t>09. Map</a:t>
            </a:r>
          </a:p>
          <a:p>
            <a:pPr algn="ctr">
              <a:spcBef>
                <a:spcPts val="400"/>
              </a:spcBef>
              <a:defRPr sz="900" b="1">
                <a:solidFill>
                  <a:srgbClr val="FFFFFF"/>
                </a:solidFill>
                <a:latin typeface="Liberation Mono"/>
              </a:defRPr>
            </a:pPr>
            <a:r>
              <a:t>Iso-Contours</a:t>
            </a:r>
          </a:p>
        </p:txBody>
      </p:sp>
      <p:sp>
        <p:nvSpPr>
          <p:cNvPr id="25" name="Rounded Rectangle 24"/>
          <p:cNvSpPr/>
          <p:nvPr/>
        </p:nvSpPr>
        <p:spPr>
          <a:xfrm>
            <a:off x="731520" y="3566160"/>
            <a:ext cx="3364992" cy="2697480"/>
          </a:xfrm>
          <a:prstGeom prst="roundRect">
            <a:avLst/>
          </a:prstGeom>
          <a:solidFill>
            <a:srgbClr val="16223F"/>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60120" y="3749040"/>
            <a:ext cx="2907792" cy="2331720"/>
          </a:xfrm>
          <a:prstGeom prst="rect">
            <a:avLst/>
          </a:prstGeom>
          <a:noFill/>
        </p:spPr>
        <p:txBody>
          <a:bodyPr wrap="square">
            <a:spAutoFit/>
          </a:bodyPr>
          <a:lstStyle/>
          <a:p>
            <a:pPr>
              <a:defRPr sz="1000" b="1">
                <a:solidFill>
                  <a:srgbClr val="00D2FF"/>
                </a:solidFill>
                <a:latin typeface="Liberation Mono"/>
              </a:defRPr>
            </a:pPr>
            <a:r>
              <a:t>CORE PILLAR 01</a:t>
            </a:r>
          </a:p>
          <a:p>
            <a:pPr>
              <a:spcBef>
                <a:spcPts val="400"/>
              </a:spcBef>
              <a:defRPr sz="1500" b="1">
                <a:solidFill>
                  <a:srgbClr val="FFFFFF"/>
                </a:solidFill>
                <a:latin typeface="Trebuchet MS"/>
              </a:defRPr>
            </a:pPr>
            <a:r>
              <a:t>Fully Explainable &amp; Transparent</a:t>
            </a:r>
          </a:p>
          <a:p>
            <a:pPr>
              <a:spcBef>
                <a:spcPts val="800"/>
              </a:spcBef>
              <a:defRPr sz="1100">
                <a:solidFill>
                  <a:srgbClr val="EBF0F7"/>
                </a:solidFill>
                <a:latin typeface="Calibri"/>
              </a:defRPr>
            </a:pPr>
            <a:r>
              <a:t>Zero black-box neural networks. Every prediction and similarity metric is computed via closed-form linear algebra, providing complete mathematical traceability from raw dBm to final spatial surface.</a:t>
            </a:r>
          </a:p>
        </p:txBody>
      </p:sp>
      <p:sp>
        <p:nvSpPr>
          <p:cNvPr id="27" name="Rounded Rectangle 26"/>
          <p:cNvSpPr/>
          <p:nvPr/>
        </p:nvSpPr>
        <p:spPr>
          <a:xfrm>
            <a:off x="4407408" y="3566160"/>
            <a:ext cx="3364992" cy="2697480"/>
          </a:xfrm>
          <a:prstGeom prst="roundRect">
            <a:avLst/>
          </a:prstGeom>
          <a:solidFill>
            <a:srgbClr val="16223F"/>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636008" y="3749040"/>
            <a:ext cx="2907792" cy="2331720"/>
          </a:xfrm>
          <a:prstGeom prst="rect">
            <a:avLst/>
          </a:prstGeom>
          <a:noFill/>
        </p:spPr>
        <p:txBody>
          <a:bodyPr wrap="square">
            <a:spAutoFit/>
          </a:bodyPr>
          <a:lstStyle/>
          <a:p>
            <a:pPr>
              <a:defRPr sz="1000" b="1">
                <a:solidFill>
                  <a:srgbClr val="10B981"/>
                </a:solidFill>
                <a:latin typeface="Liberation Mono"/>
              </a:defRPr>
            </a:pPr>
            <a:r>
              <a:t>CORE PILLAR 02</a:t>
            </a:r>
          </a:p>
          <a:p>
            <a:pPr>
              <a:spcBef>
                <a:spcPts val="400"/>
              </a:spcBef>
              <a:defRPr sz="1500" b="1">
                <a:solidFill>
                  <a:srgbClr val="FFFFFF"/>
                </a:solidFill>
                <a:latin typeface="Trebuchet MS"/>
              </a:defRPr>
            </a:pPr>
            <a:r>
              <a:t>Operationally Validated Accuracy</a:t>
            </a:r>
          </a:p>
          <a:p>
            <a:pPr>
              <a:spcBef>
                <a:spcPts val="800"/>
              </a:spcBef>
              <a:defRPr sz="1100">
                <a:solidFill>
                  <a:srgbClr val="EBF0F7"/>
                </a:solidFill>
                <a:latin typeface="Calibri"/>
              </a:defRPr>
            </a:pPr>
            <a:r>
              <a:t>Verified through held-out cross-validation achieving 2.45 dBm MAE. Dual-rule filtering eliminates fleeting noise spikes, pinpointing chronic dead zones with high precision.</a:t>
            </a:r>
          </a:p>
        </p:txBody>
      </p:sp>
      <p:sp>
        <p:nvSpPr>
          <p:cNvPr id="29" name="Rounded Rectangle 28"/>
          <p:cNvSpPr/>
          <p:nvPr/>
        </p:nvSpPr>
        <p:spPr>
          <a:xfrm>
            <a:off x="8083296" y="3566160"/>
            <a:ext cx="3364992" cy="2697480"/>
          </a:xfrm>
          <a:prstGeom prst="roundRect">
            <a:avLst/>
          </a:prstGeom>
          <a:solidFill>
            <a:srgbClr val="16223F"/>
          </a:solidFill>
          <a:ln w="15240">
            <a:solidFill>
              <a:srgbClr val="2A3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311896" y="3749040"/>
            <a:ext cx="2907792" cy="2331720"/>
          </a:xfrm>
          <a:prstGeom prst="rect">
            <a:avLst/>
          </a:prstGeom>
          <a:noFill/>
        </p:spPr>
        <p:txBody>
          <a:bodyPr wrap="square">
            <a:spAutoFit/>
          </a:bodyPr>
          <a:lstStyle/>
          <a:p>
            <a:pPr>
              <a:defRPr sz="1000" b="1">
                <a:solidFill>
                  <a:srgbClr val="F43F5E"/>
                </a:solidFill>
                <a:latin typeface="Liberation Mono"/>
              </a:defRPr>
            </a:pPr>
            <a:r>
              <a:t>CORE PILLAR 03</a:t>
            </a:r>
          </a:p>
          <a:p>
            <a:pPr>
              <a:spcBef>
                <a:spcPts val="400"/>
              </a:spcBef>
              <a:defRPr sz="1500" b="1">
                <a:solidFill>
                  <a:srgbClr val="FFFFFF"/>
                </a:solidFill>
                <a:latin typeface="Trebuchet MS"/>
              </a:defRPr>
            </a:pPr>
            <a:r>
              <a:t>Modular &amp; Scalable Platform</a:t>
            </a:r>
          </a:p>
          <a:p>
            <a:pPr>
              <a:spcBef>
                <a:spcPts val="800"/>
              </a:spcBef>
              <a:defRPr sz="1100">
                <a:solidFill>
                  <a:srgbClr val="EBF0F7"/>
                </a:solidFill>
                <a:latin typeface="Calibri"/>
              </a:defRPr>
            </a:pPr>
            <a:r>
              <a:t>Supports live dashboard modules: Overview, Signal Matrix, Location Similarity, Strength Prediction, Coverage Map, and Pattern Analysis for rapid deployment across multi-floor campus facilities.</a:t>
            </a:r>
          </a:p>
        </p:txBody>
      </p:sp>
      <p:sp>
        <p:nvSpPr>
          <p:cNvPr id="31" name="Rectangle 30"/>
          <p:cNvSpPr/>
          <p:nvPr/>
        </p:nvSpPr>
        <p:spPr>
          <a:xfrm>
            <a:off x="731520" y="6400800"/>
            <a:ext cx="10728655" cy="12700"/>
          </a:xfrm>
          <a:prstGeom prst="rect">
            <a:avLst/>
          </a:prstGeom>
          <a:solidFill>
            <a:srgbClr val="2A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31520" y="6446520"/>
            <a:ext cx="6400800" cy="274320"/>
          </a:xfrm>
          <a:prstGeom prst="rect">
            <a:avLst/>
          </a:prstGeom>
          <a:noFill/>
        </p:spPr>
        <p:txBody>
          <a:bodyPr wrap="none" lIns="0" tIns="0" rIns="0" bIns="0">
            <a:spAutoFit/>
          </a:bodyPr>
          <a:lstStyle/>
          <a:p>
            <a:pPr>
              <a:defRPr sz="950">
                <a:solidFill>
                  <a:srgbClr val="94A3B8"/>
                </a:solidFill>
                <a:latin typeface="Calibri"/>
              </a:defRPr>
            </a:pPr>
            <a:r>
              <a:t>UE25MA242A · MFAD 2026  |  Wi-FiScope: Campus Wi-Fi Signal Intelligence via Linear Algebra</a:t>
            </a:r>
          </a:p>
        </p:txBody>
      </p:sp>
      <p:sp>
        <p:nvSpPr>
          <p:cNvPr id="33" name="TextBox 32"/>
          <p:cNvSpPr txBox="1"/>
          <p:nvPr/>
        </p:nvSpPr>
        <p:spPr>
          <a:xfrm>
            <a:off x="9631375" y="6446520"/>
            <a:ext cx="1828800" cy="274320"/>
          </a:xfrm>
          <a:prstGeom prst="rect">
            <a:avLst/>
          </a:prstGeom>
          <a:noFill/>
        </p:spPr>
        <p:txBody>
          <a:bodyPr wrap="none" lIns="0" tIns="0" rIns="0" bIns="0">
            <a:spAutoFit/>
          </a:bodyPr>
          <a:lstStyle/>
          <a:p>
            <a:pPr algn="r">
              <a:defRPr sz="950" b="1">
                <a:solidFill>
                  <a:srgbClr val="00D2FF"/>
                </a:solidFill>
                <a:latin typeface="Liberation Mono"/>
              </a:defRPr>
            </a:pPr>
            <a:r>
              <a:t>11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2981</Words>
  <Application>Microsoft Office PowerPoint</Application>
  <PresentationFormat>Widescreen</PresentationFormat>
  <Paragraphs>271</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 SANJAY KUMAR</dc:creator>
  <cp:keywords/>
  <dc:description>generated using python-pptx</dc:description>
  <cp:lastModifiedBy>Y Sanjay Kumar</cp:lastModifiedBy>
  <cp:revision>1</cp:revision>
  <dcterms:created xsi:type="dcterms:W3CDTF">2013-01-27T09:14:16Z</dcterms:created>
  <dcterms:modified xsi:type="dcterms:W3CDTF">2026-10-08T16:39:56Z</dcterms:modified>
  <cp:category/>
</cp:coreProperties>
</file>